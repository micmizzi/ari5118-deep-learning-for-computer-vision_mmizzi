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8" r:id="rId5"/>
    <p:sldId id="259" r:id="rId6"/>
    <p:sldId id="260" r:id="rId7"/>
    <p:sldId id="269" r:id="rId8"/>
    <p:sldId id="261" r:id="rId9"/>
    <p:sldId id="270" r:id="rId10"/>
    <p:sldId id="271" r:id="rId11"/>
    <p:sldId id="272" r:id="rId12"/>
    <p:sldId id="264" r:id="rId13"/>
    <p:sldId id="263" r:id="rId14"/>
    <p:sldId id="262" r:id="rId15"/>
    <p:sldId id="265" r:id="rId16"/>
    <p:sldId id="273" r:id="rId17"/>
    <p:sldId id="266" r:id="rId18"/>
    <p:sldId id="267" r:id="rId19"/>
  </p:sldIdLst>
  <p:sldSz cx="18288000" cy="10287000"/>
  <p:notesSz cx="10287000" cy="18288000"/>
  <p:embeddedFontLst>
    <p:embeddedFont>
      <p:font typeface="Plus Jakarta Sans" panose="020B0604020202020204" charset="0"/>
      <p:regular r:id="rId21"/>
      <p:bold r:id="rId22"/>
      <p:italic r:id="rId23"/>
      <p:boldItalic r:id="rId24"/>
    </p:embeddedFont>
    <p:embeddedFont>
      <p:font typeface="Plus Jakarta Sans Medium" panose="020B0604020202020204" charset="0"/>
      <p:regular r:id="rId25"/>
      <p:italic r:id="rId26"/>
    </p:embeddedFont>
    <p:embeddedFont>
      <p:font typeface="Plus Jakarta Sans SemiBold" panose="020B0604020202020204" charset="0"/>
      <p:regular r:id="rId27"/>
      <p: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7F7C"/>
    <a:srgbClr val="635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57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icmizzi/ARI5118-Deep-Learning-For-Computer-Vision_MMIZZI.gi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8f8d560-dadc-4178-ad73-76fd15a1922b-AI"/>
          <p:cNvSpPr/>
          <p:nvPr/>
        </p:nvSpPr>
        <p:spPr>
          <a:xfrm>
            <a:off x="87682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 dirty="0"/>
          </a:p>
        </p:txBody>
      </p:sp>
      <p:sp>
        <p:nvSpPr>
          <p:cNvPr id="3" name="title-482"/>
          <p:cNvSpPr txBox="1"/>
          <p:nvPr/>
        </p:nvSpPr>
        <p:spPr>
          <a:xfrm>
            <a:off x="394028" y="795207"/>
            <a:ext cx="6586538" cy="3027254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6910"/>
              </a:lnSpc>
              <a:buNone/>
            </a:pPr>
            <a:r>
              <a:rPr lang="en-US" sz="5400" kern="1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CNN Foundations</a:t>
            </a:r>
          </a:p>
          <a:p>
            <a:endParaRPr lang="en-US" sz="900" spc="-184" dirty="0">
              <a:solidFill>
                <a:srgbClr val="0D131D"/>
              </a:solidFill>
              <a:latin typeface="Plus Jakarta Sans SemiBold" panose="00000700000000000000" pitchFamily="2" charset="0"/>
            </a:endParaRPr>
          </a:p>
          <a:p>
            <a:pPr marL="685800" indent="-685800">
              <a:buFontTx/>
              <a:buChar char="-"/>
            </a:pPr>
            <a:r>
              <a:rPr lang="en-US" sz="3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Convolution,</a:t>
            </a:r>
          </a:p>
          <a:p>
            <a:pPr marL="685800" indent="-685800">
              <a:buFontTx/>
              <a:buChar char="-"/>
            </a:pPr>
            <a:r>
              <a:rPr lang="en-US" sz="3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Spatial Arithmetic,</a:t>
            </a:r>
          </a:p>
          <a:p>
            <a:pPr marL="685800" indent="-685800">
              <a:buFontTx/>
              <a:buChar char="-"/>
            </a:pPr>
            <a:r>
              <a:rPr lang="en-US" sz="3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Receptive Field</a:t>
            </a:r>
          </a:p>
          <a:p>
            <a:pPr marL="685800" indent="-685800">
              <a:lnSpc>
                <a:spcPts val="6910"/>
              </a:lnSpc>
              <a:buFontTx/>
              <a:buChar char="-"/>
            </a:pPr>
            <a:endParaRPr lang="en-US" sz="5400" dirty="0"/>
          </a:p>
        </p:txBody>
      </p:sp>
      <p:pic>
        <p:nvPicPr>
          <p:cNvPr id="7" name="img-image-diagram-VTpy4v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0"/>
            <a:ext cx="12268200" cy="10287000"/>
          </a:xfrm>
          <a:prstGeom prst="rect">
            <a:avLst/>
          </a:prstGeom>
        </p:spPr>
      </p:pic>
      <p:sp>
        <p:nvSpPr>
          <p:cNvPr id="4" name="subtitle-436"/>
          <p:cNvSpPr txBox="1"/>
          <p:nvPr/>
        </p:nvSpPr>
        <p:spPr>
          <a:xfrm>
            <a:off x="8379911" y="5902995"/>
            <a:ext cx="4542709" cy="2301553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2800" b="1" i="1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Study Pack:</a:t>
            </a:r>
          </a:p>
          <a:p>
            <a:pPr marL="0" indent="0" algn="l">
              <a:lnSpc>
                <a:spcPts val="2660"/>
              </a:lnSpc>
              <a:buNone/>
            </a:pPr>
            <a:endParaRPr lang="en-US" sz="2800" b="1" i="1" kern="1200" spc="-22" dirty="0">
              <a:solidFill>
                <a:srgbClr val="555B66"/>
              </a:solidFill>
              <a:latin typeface="Plus Jakarta Sans Medium" panose="00000600000000000000" pitchFamily="2" charset="0"/>
            </a:endParaRPr>
          </a:p>
          <a:p>
            <a:pPr marL="285750" indent="-285750" algn="l">
              <a:lnSpc>
                <a:spcPts val="2660"/>
              </a:lnSpc>
              <a:buFontTx/>
              <a:buChar char="-"/>
            </a:pPr>
            <a:r>
              <a:rPr lang="en-US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Notes</a:t>
            </a:r>
          </a:p>
          <a:p>
            <a:pPr marL="285750" indent="-285750" algn="l">
              <a:lnSpc>
                <a:spcPts val="2660"/>
              </a:lnSpc>
              <a:buFontTx/>
              <a:buChar char="-"/>
            </a:pPr>
            <a:r>
              <a:rPr lang="en-US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Quiz</a:t>
            </a:r>
          </a:p>
          <a:p>
            <a:pPr marL="285750" indent="-285750" algn="l">
              <a:lnSpc>
                <a:spcPts val="2660"/>
              </a:lnSpc>
              <a:buFontTx/>
              <a:buChar char="-"/>
            </a:pPr>
            <a:r>
              <a:rPr lang="en-US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A worked Example (</a:t>
            </a:r>
            <a:r>
              <a:rPr lang="en-US" spc="-22" dirty="0" err="1">
                <a:solidFill>
                  <a:srgbClr val="555B66"/>
                </a:solidFill>
                <a:latin typeface="Plus Jakarta Sans Medium" panose="00000600000000000000" pitchFamily="2" charset="0"/>
              </a:rPr>
              <a:t>Jupyter</a:t>
            </a:r>
            <a:r>
              <a:rPr lang="en-US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 Notebook)</a:t>
            </a:r>
          </a:p>
          <a:p>
            <a:pPr marL="285750" indent="-285750" algn="l">
              <a:lnSpc>
                <a:spcPts val="2660"/>
              </a:lnSpc>
              <a:buFontTx/>
              <a:buChar char="-"/>
            </a:pPr>
            <a:r>
              <a:rPr lang="en-US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Simulator  (</a:t>
            </a:r>
            <a:r>
              <a:rPr lang="en-US" spc="-22" dirty="0" err="1">
                <a:solidFill>
                  <a:srgbClr val="555B66"/>
                </a:solidFill>
                <a:latin typeface="Plus Jakarta Sans Medium" panose="00000600000000000000" pitchFamily="2" charset="0"/>
              </a:rPr>
              <a:t>Gradio</a:t>
            </a:r>
            <a:r>
              <a:rPr lang="en-US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 platform)</a:t>
            </a:r>
          </a:p>
          <a:p>
            <a:pPr marL="285750" indent="-285750" algn="l">
              <a:lnSpc>
                <a:spcPts val="2660"/>
              </a:lnSpc>
              <a:buFontTx/>
              <a:buChar char="-"/>
            </a:pPr>
            <a:r>
              <a:rPr lang="en-US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Further reading / references</a:t>
            </a:r>
          </a:p>
        </p:txBody>
      </p:sp>
      <p:sp>
        <p:nvSpPr>
          <p:cNvPr id="5" name="nametext-node-isS2BE-1-2"/>
          <p:cNvSpPr txBox="1"/>
          <p:nvPr/>
        </p:nvSpPr>
        <p:spPr>
          <a:xfrm>
            <a:off x="762000" y="8839201"/>
            <a:ext cx="1576388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Michael Mizzi</a:t>
            </a:r>
            <a:endParaRPr lang="en-US" sz="2100" dirty="0"/>
          </a:p>
        </p:txBody>
      </p:sp>
      <p:sp>
        <p:nvSpPr>
          <p:cNvPr id="6" name="designationtext-node-isS2BE-1-2"/>
          <p:cNvSpPr txBox="1"/>
          <p:nvPr/>
        </p:nvSpPr>
        <p:spPr>
          <a:xfrm>
            <a:off x="762000" y="9231611"/>
            <a:ext cx="1576388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500" kern="1200" spc="-18" dirty="0">
                <a:solidFill>
                  <a:srgbClr val="8A8D93"/>
                </a:solidFill>
                <a:latin typeface="Plus Jakarta Sans Medium" panose="00000600000000000000" pitchFamily="2" charset="0"/>
              </a:rPr>
              <a:t>May 2026</a:t>
            </a:r>
            <a:endParaRPr lang="en-US" sz="1500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5E8A8D58-5DDC-55A0-95E6-ECE69A17CEC9}"/>
              </a:ext>
            </a:extLst>
          </p:cNvPr>
          <p:cNvSpPr/>
          <p:nvPr/>
        </p:nvSpPr>
        <p:spPr>
          <a:xfrm rot="16200000">
            <a:off x="8560287" y="5967395"/>
            <a:ext cx="1691013" cy="2958653"/>
          </a:xfrm>
          <a:prstGeom prst="halfFrame">
            <a:avLst>
              <a:gd name="adj1" fmla="val 12180"/>
              <a:gd name="adj2" fmla="val 12180"/>
            </a:avLst>
          </a:prstGeom>
          <a:solidFill>
            <a:srgbClr val="617F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>
              <a:solidFill>
                <a:schemeClr val="tx1"/>
              </a:solidFill>
            </a:endParaRPr>
          </a:p>
        </p:txBody>
      </p:sp>
      <p:sp>
        <p:nvSpPr>
          <p:cNvPr id="9" name="subtitle-436">
            <a:extLst>
              <a:ext uri="{FF2B5EF4-FFF2-40B4-BE49-F238E27FC236}">
                <a16:creationId xmlns:a16="http://schemas.microsoft.com/office/drawing/2014/main" id="{9FF9978C-027A-4C4A-6053-E98F4AD2A44F}"/>
              </a:ext>
            </a:extLst>
          </p:cNvPr>
          <p:cNvSpPr txBox="1"/>
          <p:nvPr/>
        </p:nvSpPr>
        <p:spPr>
          <a:xfrm>
            <a:off x="762000" y="9795294"/>
            <a:ext cx="8490942" cy="430883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>
              <a:lnSpc>
                <a:spcPts val="2660"/>
              </a:lnSpc>
            </a:pPr>
            <a:r>
              <a:rPr lang="en-US" sz="21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Repository Link: </a:t>
            </a:r>
            <a:r>
              <a:rPr lang="en-US" sz="1200" i="1" spc="-22" dirty="0">
                <a:solidFill>
                  <a:srgbClr val="555B66"/>
                </a:solidFill>
                <a:latin typeface="Plus Jakarta Sans Medium" panose="00000600000000000000" pitchFamily="2" charset="0"/>
                <a:hlinkClick r:id="rId4"/>
              </a:rPr>
              <a:t>https://github.com/micmizzi/ARI5118-Deep-Learning-For-Computer-Vision_MMIZZI.git </a:t>
            </a:r>
            <a:endParaRPr lang="en-US" sz="1400" i="1" spc="-22" dirty="0">
              <a:solidFill>
                <a:srgbClr val="555B66"/>
              </a:solidFill>
              <a:latin typeface="Plus Jakarta Sans Medium" panose="000006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5560e52-7c73-4bcf-ae2b-0d2144bf79a1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itle-482"/>
          <p:cNvSpPr txBox="1"/>
          <p:nvPr/>
        </p:nvSpPr>
        <p:spPr>
          <a:xfrm>
            <a:off x="381000" y="381000"/>
            <a:ext cx="7424737" cy="8058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540"/>
              </a:lnSpc>
              <a:buNone/>
            </a:pP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Why Traditional ANNs Fail</a:t>
            </a:r>
            <a:endParaRPr lang="en-US" sz="4200" dirty="0"/>
          </a:p>
        </p:txBody>
      </p:sp>
      <p:sp>
        <p:nvSpPr>
          <p:cNvPr id="4" name="subtitle-413"/>
          <p:cNvSpPr txBox="1"/>
          <p:nvPr/>
        </p:nvSpPr>
        <p:spPr>
          <a:xfrm>
            <a:off x="708831" y="1384915"/>
            <a:ext cx="7424737" cy="1120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Standard Artificial Neural Networks struggle with visual data, suffering from excessive weight requirements, spatial data ignorance, and poor translation invariance.</a:t>
            </a:r>
            <a:endParaRPr lang="en-US" sz="1800" dirty="0"/>
          </a:p>
        </p:txBody>
      </p:sp>
      <p:sp>
        <p:nvSpPr>
          <p:cNvPr id="5" name="diagram-BNdAEI-separator-top-0"/>
          <p:cNvSpPr/>
          <p:nvPr/>
        </p:nvSpPr>
        <p:spPr>
          <a:xfrm>
            <a:off x="9765010" y="381000"/>
            <a:ext cx="8143875" cy="9525"/>
          </a:xfrm>
          <a:prstGeom prst="rect">
            <a:avLst/>
          </a:prstGeom>
          <a:solidFill>
            <a:srgbClr val="0D131D">
              <a:alpha val="3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sequencetext-diagram-BNdAEI-0"/>
          <p:cNvSpPr/>
          <p:nvPr/>
        </p:nvSpPr>
        <p:spPr>
          <a:xfrm>
            <a:off x="9765010" y="619125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BB7FA7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7" name="::before"/>
          <p:cNvSpPr txBox="1"/>
          <p:nvPr/>
        </p:nvSpPr>
        <p:spPr>
          <a:xfrm>
            <a:off x="9906695" y="758726"/>
            <a:ext cx="326132" cy="421739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r>
              <a:rPr lang="en-US" sz="2100" kern="1200" spc="-65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8" name="headingtext-diagram-BNdAEI-0-1"/>
          <p:cNvSpPr txBox="1"/>
          <p:nvPr/>
        </p:nvSpPr>
        <p:spPr>
          <a:xfrm>
            <a:off x="9765010" y="1457325"/>
            <a:ext cx="81772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Parameter Explosion</a:t>
            </a:r>
            <a:endParaRPr lang="en-US" sz="2100" dirty="0"/>
          </a:p>
        </p:txBody>
      </p:sp>
      <p:sp>
        <p:nvSpPr>
          <p:cNvPr id="9" name="bodytext-diagram-BNdAEI-0-1"/>
          <p:cNvSpPr txBox="1"/>
          <p:nvPr/>
        </p:nvSpPr>
        <p:spPr>
          <a:xfrm>
            <a:off x="9765010" y="1944985"/>
            <a:ext cx="8177213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Small images need millions of weights, creating massive memory usage and overfitting risk.</a:t>
            </a:r>
            <a:endParaRPr lang="en-US" sz="2100" dirty="0"/>
          </a:p>
        </p:txBody>
      </p:sp>
      <p:sp>
        <p:nvSpPr>
          <p:cNvPr id="10" name="Rect"/>
          <p:cNvSpPr/>
          <p:nvPr/>
        </p:nvSpPr>
        <p:spPr>
          <a:xfrm>
            <a:off x="9765010" y="2941538"/>
            <a:ext cx="8143875" cy="9525"/>
          </a:xfrm>
          <a:prstGeom prst="rect">
            <a:avLst/>
          </a:prstGeom>
          <a:solidFill>
            <a:srgbClr val="0D131D">
              <a:alpha val="3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1" name="sequencetext-diagram-BNdAEI-1"/>
          <p:cNvSpPr/>
          <p:nvPr/>
        </p:nvSpPr>
        <p:spPr>
          <a:xfrm>
            <a:off x="9765010" y="3179663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859FCC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::before"/>
          <p:cNvSpPr txBox="1"/>
          <p:nvPr/>
        </p:nvSpPr>
        <p:spPr>
          <a:xfrm>
            <a:off x="9877822" y="3319264"/>
            <a:ext cx="383977" cy="421739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r>
              <a:rPr lang="en-US" sz="2100" kern="1200" spc="-65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3" name="headingtext-diagram-BNdAEI-1-2"/>
          <p:cNvSpPr txBox="1"/>
          <p:nvPr/>
        </p:nvSpPr>
        <p:spPr>
          <a:xfrm>
            <a:off x="9765010" y="4017864"/>
            <a:ext cx="81772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Spatial Topology</a:t>
            </a:r>
            <a:endParaRPr lang="en-US" sz="2100" dirty="0"/>
          </a:p>
        </p:txBody>
      </p:sp>
      <p:sp>
        <p:nvSpPr>
          <p:cNvPr id="14" name="bodytext-diagram-BNdAEI-1-2"/>
          <p:cNvSpPr txBox="1"/>
          <p:nvPr/>
        </p:nvSpPr>
        <p:spPr>
          <a:xfrm>
            <a:off x="9765010" y="4505524"/>
            <a:ext cx="8177213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Networks treat images as flat vectors, ignoring that nearby pixels are highly correlated.</a:t>
            </a:r>
            <a:endParaRPr lang="en-US" sz="2100" dirty="0"/>
          </a:p>
        </p:txBody>
      </p:sp>
      <p:sp>
        <p:nvSpPr>
          <p:cNvPr id="15" name="Rect"/>
          <p:cNvSpPr/>
          <p:nvPr/>
        </p:nvSpPr>
        <p:spPr>
          <a:xfrm>
            <a:off x="9765010" y="5502077"/>
            <a:ext cx="8143875" cy="9525"/>
          </a:xfrm>
          <a:prstGeom prst="rect">
            <a:avLst/>
          </a:prstGeom>
          <a:solidFill>
            <a:srgbClr val="0D131D">
              <a:alpha val="3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6" name="sequencetext-diagram-BNdAEI-2"/>
          <p:cNvSpPr/>
          <p:nvPr/>
        </p:nvSpPr>
        <p:spPr>
          <a:xfrm>
            <a:off x="9765010" y="5740202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BADEDA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7" name="::before"/>
          <p:cNvSpPr txBox="1"/>
          <p:nvPr/>
        </p:nvSpPr>
        <p:spPr>
          <a:xfrm>
            <a:off x="9876334" y="5879803"/>
            <a:ext cx="386953" cy="421739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r>
              <a:rPr lang="en-US" sz="2100" kern="1200" spc="-65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18" name="headingtext-diagram-BNdAEI-2-3"/>
          <p:cNvSpPr txBox="1"/>
          <p:nvPr/>
        </p:nvSpPr>
        <p:spPr>
          <a:xfrm>
            <a:off x="9765010" y="6578402"/>
            <a:ext cx="81772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Lack of Invariance</a:t>
            </a:r>
            <a:endParaRPr lang="en-US" sz="2100" dirty="0"/>
          </a:p>
        </p:txBody>
      </p:sp>
      <p:sp>
        <p:nvSpPr>
          <p:cNvPr id="19" name="bodytext-diagram-BNdAEI-2-3"/>
          <p:cNvSpPr txBox="1"/>
          <p:nvPr/>
        </p:nvSpPr>
        <p:spPr>
          <a:xfrm>
            <a:off x="9765010" y="7066062"/>
            <a:ext cx="8177213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Networks lack translation invariance, failing to recognise objects shifted by a few pixels.</a:t>
            </a:r>
            <a:endParaRPr lang="en-US" sz="2100" dirty="0"/>
          </a:p>
        </p:txBody>
      </p:sp>
      <p:sp>
        <p:nvSpPr>
          <p:cNvPr id="20" name="diagram-BNdAEI-separator-bottom-2"/>
          <p:cNvSpPr/>
          <p:nvPr/>
        </p:nvSpPr>
        <p:spPr>
          <a:xfrm>
            <a:off x="9765010" y="8062615"/>
            <a:ext cx="8143875" cy="9525"/>
          </a:xfrm>
          <a:prstGeom prst="rect">
            <a:avLst/>
          </a:prstGeom>
          <a:solidFill>
            <a:srgbClr val="0D131D">
              <a:alpha val="30000"/>
            </a:srgbClr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4932D8-9302-C338-3FEA-37ECB9AA59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10"/>
          <a:stretch>
            <a:fillRect/>
          </a:stretch>
        </p:blipFill>
        <p:spPr>
          <a:xfrm>
            <a:off x="517847" y="2923569"/>
            <a:ext cx="8408424" cy="5912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ed5f6e2-2f9d-48fc-8e65-b73fc61ff31b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itle-411"/>
          <p:cNvSpPr txBox="1"/>
          <p:nvPr/>
        </p:nvSpPr>
        <p:spPr>
          <a:xfrm>
            <a:off x="3400425" y="381000"/>
            <a:ext cx="11520488" cy="15106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5540"/>
              </a:lnSpc>
              <a:buNone/>
            </a:pP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CNNs Mirror Biological Vision</a:t>
            </a:r>
            <a:r>
              <a:rPr lang="en-US" sz="4200" dirty="0">
                <a:solidFill>
                  <a:srgbClr val="000000"/>
                </a:solidFill>
              </a:rPr>
              <a:t>
</a:t>
            </a: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Through Local Connectivity</a:t>
            </a:r>
            <a:endParaRPr lang="en-US" sz="4200" dirty="0"/>
          </a:p>
        </p:txBody>
      </p:sp>
      <p:pic>
        <p:nvPicPr>
          <p:cNvPr id="4" name="bulbsplit4node-layer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2966" y="2457450"/>
            <a:ext cx="5121969" cy="7450138"/>
          </a:xfrm>
          <a:prstGeom prst="rect">
            <a:avLst/>
          </a:prstGeom>
        </p:spPr>
      </p:pic>
      <p:pic>
        <p:nvPicPr>
          <p:cNvPr id="5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6555" y="3816747"/>
            <a:ext cx="651669" cy="651669"/>
          </a:xfrm>
          <a:prstGeom prst="rect">
            <a:avLst/>
          </a:prstGeom>
        </p:spPr>
      </p:pic>
      <p:pic>
        <p:nvPicPr>
          <p:cNvPr id="6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3414" y="3816747"/>
            <a:ext cx="651669" cy="651669"/>
          </a:xfrm>
          <a:prstGeom prst="rect">
            <a:avLst/>
          </a:prstGeom>
        </p:spPr>
      </p:pic>
      <p:pic>
        <p:nvPicPr>
          <p:cNvPr id="7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6009" y="6278464"/>
            <a:ext cx="651669" cy="651669"/>
          </a:xfrm>
          <a:prstGeom prst="rect">
            <a:avLst/>
          </a:prstGeom>
        </p:spPr>
      </p:pic>
      <p:pic>
        <p:nvPicPr>
          <p:cNvPr id="8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401" y="6278464"/>
            <a:ext cx="651669" cy="651669"/>
          </a:xfrm>
          <a:prstGeom prst="rect">
            <a:avLst/>
          </a:prstGeom>
        </p:spPr>
      </p:pic>
      <p:sp>
        <p:nvSpPr>
          <p:cNvPr id="9" name="headingtext-diagram-28xGmW-0-1"/>
          <p:cNvSpPr txBox="1"/>
          <p:nvPr/>
        </p:nvSpPr>
        <p:spPr>
          <a:xfrm>
            <a:off x="1752600" y="2881908"/>
            <a:ext cx="46339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Local Vision</a:t>
            </a:r>
            <a:endParaRPr lang="en-US" sz="2100" dirty="0"/>
          </a:p>
        </p:txBody>
      </p:sp>
      <p:sp>
        <p:nvSpPr>
          <p:cNvPr id="10" name="bodytext-diagram-28xGmW-0-1"/>
          <p:cNvSpPr txBox="1"/>
          <p:nvPr/>
        </p:nvSpPr>
        <p:spPr>
          <a:xfrm>
            <a:off x="1752600" y="3369568"/>
            <a:ext cx="4633913" cy="24060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CNNs improve upon standard ANNs by focusing on small, local regions of input, effectively mimicking the human eye's ability to scan a scene for specific, immediate visual features.</a:t>
            </a:r>
            <a:endParaRPr lang="en-US" sz="2100" dirty="0"/>
          </a:p>
        </p:txBody>
      </p:sp>
      <p:sp>
        <p:nvSpPr>
          <p:cNvPr id="11" name="headingtext-diagram-28xGmW-1-2"/>
          <p:cNvSpPr txBox="1"/>
          <p:nvPr/>
        </p:nvSpPr>
        <p:spPr>
          <a:xfrm>
            <a:off x="11923713" y="3073896"/>
            <a:ext cx="4643438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Efficiency</a:t>
            </a:r>
            <a:endParaRPr lang="en-US" sz="2100" dirty="0"/>
          </a:p>
        </p:txBody>
      </p:sp>
      <p:sp>
        <p:nvSpPr>
          <p:cNvPr id="12" name="bodytext-diagram-28xGmW-1-2"/>
          <p:cNvSpPr txBox="1"/>
          <p:nvPr/>
        </p:nvSpPr>
        <p:spPr>
          <a:xfrm>
            <a:off x="11923713" y="3561556"/>
            <a:ext cx="4643438" cy="20250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By ensuring each neuron connects only to a small local input group rather than the whole image, CNNs achieve sparse connectivity, which drastically reduces total parameters.</a:t>
            </a:r>
            <a:endParaRPr lang="en-US" sz="2100" dirty="0"/>
          </a:p>
        </p:txBody>
      </p:sp>
      <p:sp>
        <p:nvSpPr>
          <p:cNvPr id="13" name="headingtext-diagram-28xGmW-2-3"/>
          <p:cNvSpPr txBox="1"/>
          <p:nvPr/>
        </p:nvSpPr>
        <p:spPr>
          <a:xfrm>
            <a:off x="1752600" y="6859588"/>
            <a:ext cx="46339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Consistency</a:t>
            </a:r>
            <a:endParaRPr lang="en-US" sz="2100" dirty="0"/>
          </a:p>
        </p:txBody>
      </p:sp>
      <p:sp>
        <p:nvSpPr>
          <p:cNvPr id="14" name="bodytext-diagram-28xGmW-2-3"/>
          <p:cNvSpPr txBox="1"/>
          <p:nvPr/>
        </p:nvSpPr>
        <p:spPr>
          <a:xfrm>
            <a:off x="1752600" y="7347248"/>
            <a:ext cx="4633913" cy="20250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The same kernel weight is reused across the entire image, allowing the network to detect a specific feature consistently, regardless of its exact location in the input data.</a:t>
            </a:r>
            <a:endParaRPr lang="en-US" sz="2100" dirty="0"/>
          </a:p>
        </p:txBody>
      </p:sp>
      <p:sp>
        <p:nvSpPr>
          <p:cNvPr id="15" name="headingtext-diagram-28xGmW-3-4"/>
          <p:cNvSpPr txBox="1"/>
          <p:nvPr/>
        </p:nvSpPr>
        <p:spPr>
          <a:xfrm>
            <a:off x="11923713" y="6667600"/>
            <a:ext cx="4643438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Hierarchy</a:t>
            </a:r>
            <a:endParaRPr lang="en-US" sz="2100" dirty="0"/>
          </a:p>
        </p:txBody>
      </p:sp>
      <p:sp>
        <p:nvSpPr>
          <p:cNvPr id="16" name="bodytext-diagram-28xGmW-3-4"/>
          <p:cNvSpPr txBox="1"/>
          <p:nvPr/>
        </p:nvSpPr>
        <p:spPr>
          <a:xfrm>
            <a:off x="11923713" y="7155260"/>
            <a:ext cx="4643438" cy="24060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This structural design enables a sophisticated, efficient extraction pipeline, which progressively transforms raw pixel data into complex, high-level visual intelligence.</a:t>
            </a:r>
            <a:endParaRPr lang="en-US" sz="2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44D1FB-3076-D0EA-B8E2-70373158D14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9757"/>
          <a:stretch>
            <a:fillRect/>
          </a:stretch>
        </p:blipFill>
        <p:spPr>
          <a:xfrm>
            <a:off x="334150" y="178377"/>
            <a:ext cx="4159706" cy="29397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6A842-DC40-2E59-506E-BB2621B55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463039"/>
            <a:ext cx="16357599" cy="736091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0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79b96b9-549d-420d-a0be-f0781b735698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3" name="sequenceagenda4node-layer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::before"/>
          <p:cNvSpPr txBox="1"/>
          <p:nvPr/>
        </p:nvSpPr>
        <p:spPr>
          <a:xfrm>
            <a:off x="6723261" y="1272481"/>
            <a:ext cx="28842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kern="1200" spc="-167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1</a:t>
            </a:r>
            <a:endParaRPr lang="en-US" sz="5400" dirty="0"/>
          </a:p>
        </p:txBody>
      </p:sp>
      <p:sp>
        <p:nvSpPr>
          <p:cNvPr id="5" name="::before"/>
          <p:cNvSpPr txBox="1"/>
          <p:nvPr/>
        </p:nvSpPr>
        <p:spPr>
          <a:xfrm>
            <a:off x="6648847" y="3608983"/>
            <a:ext cx="437257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kern="1200" spc="-167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2</a:t>
            </a:r>
            <a:endParaRPr lang="en-US" sz="5400" dirty="0"/>
          </a:p>
        </p:txBody>
      </p:sp>
      <p:sp>
        <p:nvSpPr>
          <p:cNvPr id="6" name="::before"/>
          <p:cNvSpPr txBox="1"/>
          <p:nvPr/>
        </p:nvSpPr>
        <p:spPr>
          <a:xfrm>
            <a:off x="6645077" y="5944493"/>
            <a:ext cx="444797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kern="1200" spc="-167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3</a:t>
            </a:r>
            <a:endParaRPr lang="en-US" sz="5400" dirty="0"/>
          </a:p>
        </p:txBody>
      </p:sp>
      <p:sp>
        <p:nvSpPr>
          <p:cNvPr id="7" name="::before"/>
          <p:cNvSpPr txBox="1"/>
          <p:nvPr/>
        </p:nvSpPr>
        <p:spPr>
          <a:xfrm>
            <a:off x="6635552" y="8280996"/>
            <a:ext cx="463947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kern="1200" spc="-167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4</a:t>
            </a:r>
            <a:endParaRPr lang="en-US" sz="5400" dirty="0"/>
          </a:p>
        </p:txBody>
      </p:sp>
      <p:sp>
        <p:nvSpPr>
          <p:cNvPr id="8" name="headingtext-diagram-MjarTI-0-1"/>
          <p:cNvSpPr txBox="1"/>
          <p:nvPr/>
        </p:nvSpPr>
        <p:spPr>
          <a:xfrm>
            <a:off x="8140998" y="1010841"/>
            <a:ext cx="9082088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Sliding Window</a:t>
            </a:r>
            <a:endParaRPr lang="en-US" sz="2100" dirty="0"/>
          </a:p>
        </p:txBody>
      </p:sp>
      <p:sp>
        <p:nvSpPr>
          <p:cNvPr id="9" name="bodytext-diagram-MjarTI-0-1"/>
          <p:cNvSpPr txBox="1"/>
          <p:nvPr/>
        </p:nvSpPr>
        <p:spPr>
          <a:xfrm>
            <a:off x="8140998" y="1498501"/>
            <a:ext cx="9082088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A small array of weights, known as a kernel, moves across the input feature map at a set pace to scan the relevant regions systematically.</a:t>
            </a:r>
            <a:endParaRPr lang="en-US" sz="2100" dirty="0"/>
          </a:p>
        </p:txBody>
      </p:sp>
      <p:sp>
        <p:nvSpPr>
          <p:cNvPr id="10" name="headingtext-diagram-MjarTI-1-2"/>
          <p:cNvSpPr txBox="1"/>
          <p:nvPr/>
        </p:nvSpPr>
        <p:spPr>
          <a:xfrm>
            <a:off x="8140998" y="3347343"/>
            <a:ext cx="9082088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Multiplication</a:t>
            </a:r>
            <a:endParaRPr lang="en-US" sz="2100" dirty="0"/>
          </a:p>
        </p:txBody>
      </p:sp>
      <p:sp>
        <p:nvSpPr>
          <p:cNvPr id="11" name="bodytext-diagram-MjarTI-1-2"/>
          <p:cNvSpPr txBox="1"/>
          <p:nvPr/>
        </p:nvSpPr>
        <p:spPr>
          <a:xfrm>
            <a:off x="8140998" y="3835003"/>
            <a:ext cx="9082088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At each designated position, the kernel's individual weights are multiplied by the specific input units that they currently overlap directly.</a:t>
            </a:r>
            <a:endParaRPr lang="en-US" sz="2100" dirty="0"/>
          </a:p>
        </p:txBody>
      </p:sp>
      <p:sp>
        <p:nvSpPr>
          <p:cNvPr id="12" name="headingtext-diagram-MjarTI-2-3"/>
          <p:cNvSpPr txBox="1"/>
          <p:nvPr/>
        </p:nvSpPr>
        <p:spPr>
          <a:xfrm>
            <a:off x="8140998" y="5683846"/>
            <a:ext cx="9082088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Summation</a:t>
            </a:r>
            <a:endParaRPr lang="en-US" sz="2100" dirty="0"/>
          </a:p>
        </p:txBody>
      </p:sp>
      <p:sp>
        <p:nvSpPr>
          <p:cNvPr id="13" name="bodytext-diagram-MjarTI-2-3"/>
          <p:cNvSpPr txBox="1"/>
          <p:nvPr/>
        </p:nvSpPr>
        <p:spPr>
          <a:xfrm>
            <a:off x="8140998" y="6171506"/>
            <a:ext cx="9082088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These individual product results are summed together to produce a single definitive numerical value for that coordinate in the output map.</a:t>
            </a:r>
            <a:endParaRPr lang="en-US" sz="2100" dirty="0"/>
          </a:p>
        </p:txBody>
      </p:sp>
      <p:sp>
        <p:nvSpPr>
          <p:cNvPr id="14" name="headingtext-diagram-MjarTI-3-4"/>
          <p:cNvSpPr txBox="1"/>
          <p:nvPr/>
        </p:nvSpPr>
        <p:spPr>
          <a:xfrm>
            <a:off x="8140998" y="8020348"/>
            <a:ext cx="9082088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Integration</a:t>
            </a:r>
            <a:endParaRPr lang="en-US" sz="2100" dirty="0"/>
          </a:p>
        </p:txBody>
      </p:sp>
      <p:sp>
        <p:nvSpPr>
          <p:cNvPr id="15" name="bodytext-diagram-MjarTI-3-4"/>
          <p:cNvSpPr txBox="1"/>
          <p:nvPr/>
        </p:nvSpPr>
        <p:spPr>
          <a:xfrm>
            <a:off x="8140998" y="8508008"/>
            <a:ext cx="9082088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0D131D">
                    <a:alpha val="70000"/>
                  </a:srgbClr>
                </a:solidFill>
                <a:latin typeface="Plus Jakarta Sans Medium" panose="00000600000000000000" pitchFamily="2" charset="0"/>
              </a:rPr>
              <a:t>Distinct kernels are applied to each colour channel, and the resulting values are summed to create the final unified feature output map.</a:t>
            </a:r>
            <a:endParaRPr lang="en-US" sz="2100" dirty="0"/>
          </a:p>
        </p:txBody>
      </p:sp>
      <p:sp>
        <p:nvSpPr>
          <p:cNvPr id="16" name="subtitle-468"/>
          <p:cNvSpPr txBox="1"/>
          <p:nvPr/>
        </p:nvSpPr>
        <p:spPr>
          <a:xfrm>
            <a:off x="381000" y="8553054"/>
            <a:ext cx="5119688" cy="1453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A linear transformation process designed to preserve spatial structure while effectively extracting core features from complex input data maps.</a:t>
            </a:r>
            <a:endParaRPr lang="en-US" sz="1800" dirty="0"/>
          </a:p>
        </p:txBody>
      </p:sp>
      <p:sp>
        <p:nvSpPr>
          <p:cNvPr id="17" name="label-425"/>
          <p:cNvSpPr txBox="1"/>
          <p:nvPr/>
        </p:nvSpPr>
        <p:spPr>
          <a:xfrm>
            <a:off x="381000" y="381000"/>
            <a:ext cx="3786188" cy="4343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B7FA7"/>
                </a:solidFill>
                <a:latin typeface="Plus Jakarta Sans" panose="00000500000000000000" pitchFamily="2" charset="0"/>
              </a:rPr>
              <a:t>Deep Learning Fundamentals</a:t>
            </a:r>
            <a:endParaRPr lang="en-US" sz="2100" dirty="0"/>
          </a:p>
        </p:txBody>
      </p:sp>
      <p:sp>
        <p:nvSpPr>
          <p:cNvPr id="18" name="title-497"/>
          <p:cNvSpPr txBox="1"/>
          <p:nvPr/>
        </p:nvSpPr>
        <p:spPr>
          <a:xfrm>
            <a:off x="381000" y="831850"/>
            <a:ext cx="5119688" cy="2215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540"/>
              </a:lnSpc>
              <a:buNone/>
            </a:pP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Convolution</a:t>
            </a:r>
            <a:r>
              <a:rPr lang="en-US" sz="4200" dirty="0">
                <a:solidFill>
                  <a:srgbClr val="000000"/>
                </a:solidFill>
              </a:rPr>
              <a:t>
</a:t>
            </a: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Operation Mechanics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2bd34f-c89b-41fe-bed2-4b2320920bee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subtitle-401"/>
          <p:cNvSpPr txBox="1"/>
          <p:nvPr/>
        </p:nvSpPr>
        <p:spPr>
          <a:xfrm>
            <a:off x="381000" y="8214817"/>
            <a:ext cx="6910388" cy="1796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Kernels, or filters, serve as the trainable eyes of a neural network. These architectural components are essential for processing visual data through distinct mathematical operations that extract, expand, upscale, or compress features depending on the model's specific requirements.</a:t>
            </a:r>
            <a:endParaRPr lang="en-US" sz="1800" dirty="0"/>
          </a:p>
        </p:txBody>
      </p:sp>
      <p:sp>
        <p:nvSpPr>
          <p:cNvPr id="4" name="label-429"/>
          <p:cNvSpPr txBox="1"/>
          <p:nvPr/>
        </p:nvSpPr>
        <p:spPr>
          <a:xfrm>
            <a:off x="381000" y="381000"/>
            <a:ext cx="2195513" cy="3867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B7FA7"/>
                </a:solidFill>
                <a:latin typeface="Plus Jakarta Sans" panose="00000500000000000000" pitchFamily="2" charset="0"/>
              </a:rPr>
              <a:t>Kernel Architecture</a:t>
            </a:r>
            <a:endParaRPr lang="en-US" sz="1800" dirty="0"/>
          </a:p>
        </p:txBody>
      </p:sp>
      <p:sp>
        <p:nvSpPr>
          <p:cNvPr id="5" name="title-405"/>
          <p:cNvSpPr txBox="1"/>
          <p:nvPr/>
        </p:nvSpPr>
        <p:spPr>
          <a:xfrm>
            <a:off x="381000" y="781050"/>
            <a:ext cx="6910388" cy="1853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6910"/>
              </a:lnSpc>
              <a:buNone/>
            </a:pPr>
            <a:r>
              <a:rPr lang="en-US" sz="5400" kern="1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Kernel Types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kern="1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in AI Vision</a:t>
            </a:r>
            <a:endParaRPr lang="en-US" sz="5400" dirty="0"/>
          </a:p>
        </p:txBody>
      </p:sp>
      <p:sp>
        <p:nvSpPr>
          <p:cNvPr id="6" name="node-diagram-jUtl6a-0"/>
          <p:cNvSpPr/>
          <p:nvPr/>
        </p:nvSpPr>
        <p:spPr>
          <a:xfrm>
            <a:off x="8782050" y="381000"/>
            <a:ext cx="4486275" cy="4686300"/>
          </a:xfrm>
          <a:prstGeom prst="roundRect">
            <a:avLst>
              <a:gd name="adj" fmla="val 2123"/>
            </a:avLst>
          </a:prstGeom>
          <a:solidFill>
            <a:srgbClr val="BB7FA7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7" name="headingtext-diagram-jUtl6a-0-1"/>
          <p:cNvSpPr txBox="1"/>
          <p:nvPr/>
        </p:nvSpPr>
        <p:spPr>
          <a:xfrm>
            <a:off x="9163050" y="762000"/>
            <a:ext cx="37576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Standard Kernels</a:t>
            </a:r>
            <a:endParaRPr lang="en-US" sz="2100" dirty="0"/>
          </a:p>
        </p:txBody>
      </p:sp>
      <p:sp>
        <p:nvSpPr>
          <p:cNvPr id="8" name="shape-diagram-jUtl6a-0"/>
          <p:cNvSpPr/>
          <p:nvPr/>
        </p:nvSpPr>
        <p:spPr>
          <a:xfrm>
            <a:off x="9163050" y="1249660"/>
            <a:ext cx="3724275" cy="9525"/>
          </a:xfrm>
          <a:prstGeom prst="roundRect">
            <a:avLst>
              <a:gd name="adj" fmla="val 1000000"/>
            </a:avLst>
          </a:prstGeom>
          <a:solidFill>
            <a:srgbClr val="0D131D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9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3050" y="2947690"/>
            <a:ext cx="495300" cy="495300"/>
          </a:xfrm>
          <a:prstGeom prst="rect">
            <a:avLst/>
          </a:prstGeom>
        </p:spPr>
      </p:pic>
      <p:sp>
        <p:nvSpPr>
          <p:cNvPr id="10" name="bodytext-diagram-jUtl6a-0-1"/>
          <p:cNvSpPr txBox="1"/>
          <p:nvPr/>
        </p:nvSpPr>
        <p:spPr>
          <a:xfrm>
            <a:off x="9163050" y="3671590"/>
            <a:ext cx="3757613" cy="1120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These act as feature extraction workhorses, identifying oriented edges and simple corners.</a:t>
            </a:r>
            <a:endParaRPr lang="en-US" sz="1800" dirty="0"/>
          </a:p>
        </p:txBody>
      </p:sp>
      <p:sp>
        <p:nvSpPr>
          <p:cNvPr id="11" name="node-diagram-jUtl6a-1"/>
          <p:cNvSpPr/>
          <p:nvPr/>
        </p:nvSpPr>
        <p:spPr>
          <a:xfrm>
            <a:off x="13422611" y="381000"/>
            <a:ext cx="4486275" cy="4686300"/>
          </a:xfrm>
          <a:prstGeom prst="roundRect">
            <a:avLst>
              <a:gd name="adj" fmla="val 2123"/>
            </a:avLst>
          </a:prstGeom>
          <a:solidFill>
            <a:srgbClr val="859FCC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headingtext-diagram-jUtl6a-1-2"/>
          <p:cNvSpPr txBox="1"/>
          <p:nvPr/>
        </p:nvSpPr>
        <p:spPr>
          <a:xfrm>
            <a:off x="13803611" y="762000"/>
            <a:ext cx="37576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Dilated Kernels</a:t>
            </a:r>
            <a:endParaRPr lang="en-US" sz="2100" dirty="0"/>
          </a:p>
        </p:txBody>
      </p:sp>
      <p:sp>
        <p:nvSpPr>
          <p:cNvPr id="13" name="shape-diagram-jUtl6a-1"/>
          <p:cNvSpPr/>
          <p:nvPr/>
        </p:nvSpPr>
        <p:spPr>
          <a:xfrm>
            <a:off x="13803611" y="1249660"/>
            <a:ext cx="3724275" cy="9525"/>
          </a:xfrm>
          <a:prstGeom prst="roundRect">
            <a:avLst>
              <a:gd name="adj" fmla="val 1000000"/>
            </a:avLst>
          </a:prstGeom>
          <a:solidFill>
            <a:srgbClr val="0D131D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14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03611" y="2947690"/>
            <a:ext cx="495300" cy="495300"/>
          </a:xfrm>
          <a:prstGeom prst="rect">
            <a:avLst/>
          </a:prstGeom>
        </p:spPr>
      </p:pic>
      <p:sp>
        <p:nvSpPr>
          <p:cNvPr id="15" name="bodytext-diagram-jUtl6a-1-2"/>
          <p:cNvSpPr txBox="1"/>
          <p:nvPr/>
        </p:nvSpPr>
        <p:spPr>
          <a:xfrm>
            <a:off x="13803611" y="3671590"/>
            <a:ext cx="3757613" cy="1120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Also known as Atrous, these inflate by spacing weights to expand the receptive field.</a:t>
            </a:r>
            <a:endParaRPr lang="en-US" sz="1800" dirty="0"/>
          </a:p>
        </p:txBody>
      </p:sp>
      <p:sp>
        <p:nvSpPr>
          <p:cNvPr id="16" name="node-diagram-jUtl6a-2"/>
          <p:cNvSpPr/>
          <p:nvPr/>
        </p:nvSpPr>
        <p:spPr>
          <a:xfrm>
            <a:off x="8782050" y="5219700"/>
            <a:ext cx="4486275" cy="4686300"/>
          </a:xfrm>
          <a:prstGeom prst="roundRect">
            <a:avLst>
              <a:gd name="adj" fmla="val 2123"/>
            </a:avLst>
          </a:prstGeom>
          <a:solidFill>
            <a:srgbClr val="BADEDA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7" name="headingtext-diagram-jUtl6a-2-3"/>
          <p:cNvSpPr txBox="1"/>
          <p:nvPr/>
        </p:nvSpPr>
        <p:spPr>
          <a:xfrm>
            <a:off x="9163050" y="5600700"/>
            <a:ext cx="37576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Transposed Kernels</a:t>
            </a:r>
            <a:endParaRPr lang="en-US" sz="2100" dirty="0"/>
          </a:p>
        </p:txBody>
      </p:sp>
      <p:sp>
        <p:nvSpPr>
          <p:cNvPr id="18" name="shape-diagram-jUtl6a-2"/>
          <p:cNvSpPr/>
          <p:nvPr/>
        </p:nvSpPr>
        <p:spPr>
          <a:xfrm>
            <a:off x="9163050" y="6088361"/>
            <a:ext cx="3724275" cy="9525"/>
          </a:xfrm>
          <a:prstGeom prst="roundRect">
            <a:avLst>
              <a:gd name="adj" fmla="val 1000000"/>
            </a:avLst>
          </a:prstGeom>
          <a:solidFill>
            <a:srgbClr val="0D131D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19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3050" y="7786390"/>
            <a:ext cx="495300" cy="495300"/>
          </a:xfrm>
          <a:prstGeom prst="rect">
            <a:avLst/>
          </a:prstGeom>
        </p:spPr>
      </p:pic>
      <p:sp>
        <p:nvSpPr>
          <p:cNvPr id="20" name="bodytext-diagram-jUtl6a-2-3"/>
          <p:cNvSpPr txBox="1"/>
          <p:nvPr/>
        </p:nvSpPr>
        <p:spPr>
          <a:xfrm>
            <a:off x="9163050" y="8510290"/>
            <a:ext cx="3757613" cy="1120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Used for upsampling in generation tasks, mapping small inputs into larger dimensions.</a:t>
            </a:r>
            <a:endParaRPr lang="en-US" sz="1800" dirty="0"/>
          </a:p>
        </p:txBody>
      </p:sp>
      <p:sp>
        <p:nvSpPr>
          <p:cNvPr id="21" name="node-diagram-jUtl6a-3"/>
          <p:cNvSpPr/>
          <p:nvPr/>
        </p:nvSpPr>
        <p:spPr>
          <a:xfrm>
            <a:off x="13422611" y="5219700"/>
            <a:ext cx="4486275" cy="4686300"/>
          </a:xfrm>
          <a:prstGeom prst="roundRect">
            <a:avLst>
              <a:gd name="adj" fmla="val 2123"/>
            </a:avLst>
          </a:prstGeom>
          <a:solidFill>
            <a:srgbClr val="FCDEA8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2" name="headingtext-diagram-jUtl6a-3-4"/>
          <p:cNvSpPr txBox="1"/>
          <p:nvPr/>
        </p:nvSpPr>
        <p:spPr>
          <a:xfrm>
            <a:off x="13803611" y="5600700"/>
            <a:ext cx="375761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Separable Kernels</a:t>
            </a:r>
            <a:endParaRPr lang="en-US" sz="2100" dirty="0"/>
          </a:p>
        </p:txBody>
      </p:sp>
      <p:sp>
        <p:nvSpPr>
          <p:cNvPr id="23" name="shape-diagram-jUtl6a-3"/>
          <p:cNvSpPr/>
          <p:nvPr/>
        </p:nvSpPr>
        <p:spPr>
          <a:xfrm>
            <a:off x="13803611" y="6088361"/>
            <a:ext cx="3724275" cy="9525"/>
          </a:xfrm>
          <a:prstGeom prst="roundRect">
            <a:avLst>
              <a:gd name="adj" fmla="val 1000000"/>
            </a:avLst>
          </a:prstGeom>
          <a:solidFill>
            <a:srgbClr val="0D131D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24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03611" y="7786390"/>
            <a:ext cx="495300" cy="495300"/>
          </a:xfrm>
          <a:prstGeom prst="rect">
            <a:avLst/>
          </a:prstGeom>
        </p:spPr>
      </p:pic>
      <p:sp>
        <p:nvSpPr>
          <p:cNvPr id="25" name="bodytext-diagram-jUtl6a-3-4"/>
          <p:cNvSpPr txBox="1"/>
          <p:nvPr/>
        </p:nvSpPr>
        <p:spPr>
          <a:xfrm>
            <a:off x="13803611" y="8510290"/>
            <a:ext cx="3757613" cy="1120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Decouple spatial and depth-wise operations, reducing footprint for compact applications.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446955" y="3537"/>
            <a:ext cx="2814980" cy="2649013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05794" y="90504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5154" y="85816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159923-12CC-7BF0-69F7-73FDC5227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8" y="965200"/>
            <a:ext cx="16070382" cy="835659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586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87da767-6707-4580-8403-31ca1b235a4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itle-453"/>
          <p:cNvSpPr txBox="1"/>
          <p:nvPr/>
        </p:nvSpPr>
        <p:spPr>
          <a:xfrm>
            <a:off x="381000" y="381000"/>
            <a:ext cx="8034338" cy="15106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540"/>
              </a:lnSpc>
              <a:buNone/>
            </a:pP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How Pooling and Stride</a:t>
            </a:r>
            <a:r>
              <a:rPr lang="en-US" sz="4200" dirty="0">
                <a:solidFill>
                  <a:srgbClr val="000000"/>
                </a:solidFill>
              </a:rPr>
              <a:t>
</a:t>
            </a: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Change Spatial Size</a:t>
            </a:r>
            <a:endParaRPr lang="en-US" sz="4200" dirty="0"/>
          </a:p>
        </p:txBody>
      </p:sp>
      <p:sp>
        <p:nvSpPr>
          <p:cNvPr id="4" name="subtitle-424"/>
          <p:cNvSpPr txBox="1"/>
          <p:nvPr/>
        </p:nvSpPr>
        <p:spPr>
          <a:xfrm>
            <a:off x="381000" y="2074863"/>
            <a:ext cx="8034338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Clear rules for how pooling and stride reduce feature map dimensions and affect receptive field and computation</a:t>
            </a:r>
            <a:endParaRPr lang="en-US" sz="1800" dirty="0"/>
          </a:p>
        </p:txBody>
      </p:sp>
      <p:sp>
        <p:nvSpPr>
          <p:cNvPr id="5" name="-467"/>
          <p:cNvSpPr txBox="1"/>
          <p:nvPr/>
        </p:nvSpPr>
        <p:spPr>
          <a:xfrm>
            <a:off x="9382125" y="428625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Stride controls sampling: stride s reduces each spatial dimension by about 1/s (floor behavior with borders)</a:t>
            </a:r>
            <a:endParaRPr lang="en-US" sz="1800" dirty="0"/>
          </a:p>
        </p:txBody>
      </p:sp>
      <p:sp>
        <p:nvSpPr>
          <p:cNvPr id="6" name="::before"/>
          <p:cNvSpPr/>
          <p:nvPr/>
        </p:nvSpPr>
        <p:spPr>
          <a:xfrm>
            <a:off x="9144000" y="573977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7" name="-432"/>
          <p:cNvSpPr txBox="1"/>
          <p:nvPr/>
        </p:nvSpPr>
        <p:spPr>
          <a:xfrm>
            <a:off x="9382125" y="1105099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Pooling (max/average) with size p and stride p typically reduces width and height by factor p and adds translation invariance</a:t>
            </a:r>
            <a:endParaRPr lang="en-US" sz="1800" dirty="0"/>
          </a:p>
        </p:txBody>
      </p:sp>
      <p:sp>
        <p:nvSpPr>
          <p:cNvPr id="8" name="::before"/>
          <p:cNvSpPr/>
          <p:nvPr/>
        </p:nvSpPr>
        <p:spPr>
          <a:xfrm>
            <a:off x="9144000" y="1250450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9" name="-435"/>
          <p:cNvSpPr txBox="1"/>
          <p:nvPr/>
        </p:nvSpPr>
        <p:spPr>
          <a:xfrm>
            <a:off x="9382125" y="1781572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Effective output size: floor((input - kernel + 2*padding)/stride) + 1 for convolution and pooling</a:t>
            </a:r>
            <a:endParaRPr lang="en-US" sz="1800" dirty="0"/>
          </a:p>
        </p:txBody>
      </p:sp>
      <p:sp>
        <p:nvSpPr>
          <p:cNvPr id="10" name="::before"/>
          <p:cNvSpPr/>
          <p:nvPr/>
        </p:nvSpPr>
        <p:spPr>
          <a:xfrm>
            <a:off x="9144000" y="1926924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1" name="-432"/>
          <p:cNvSpPr txBox="1"/>
          <p:nvPr/>
        </p:nvSpPr>
        <p:spPr>
          <a:xfrm>
            <a:off x="9382125" y="2458046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Larger stride or pooling reduces computation and memory but can lose fine spatial detail</a:t>
            </a:r>
            <a:endParaRPr lang="en-US" sz="1800" dirty="0"/>
          </a:p>
        </p:txBody>
      </p:sp>
      <p:sp>
        <p:nvSpPr>
          <p:cNvPr id="12" name="::before"/>
          <p:cNvSpPr/>
          <p:nvPr/>
        </p:nvSpPr>
        <p:spPr>
          <a:xfrm>
            <a:off x="9144000" y="2603397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3" name="-408"/>
          <p:cNvSpPr txBox="1"/>
          <p:nvPr/>
        </p:nvSpPr>
        <p:spPr>
          <a:xfrm>
            <a:off x="9382125" y="3134519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Smaller stride or no pooling preserves resolution and spatial detail at higher compute cost</a:t>
            </a:r>
            <a:endParaRPr lang="en-US" sz="1800" dirty="0"/>
          </a:p>
        </p:txBody>
      </p:sp>
      <p:sp>
        <p:nvSpPr>
          <p:cNvPr id="14" name="::before"/>
          <p:cNvSpPr/>
          <p:nvPr/>
        </p:nvSpPr>
        <p:spPr>
          <a:xfrm>
            <a:off x="9144000" y="3279871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5" name="-446"/>
          <p:cNvSpPr txBox="1"/>
          <p:nvPr/>
        </p:nvSpPr>
        <p:spPr>
          <a:xfrm>
            <a:off x="9382125" y="3810993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Using stride in convolution increases the receptive field like pooling while keeping learned filters</a:t>
            </a:r>
            <a:endParaRPr lang="en-US" sz="1800" dirty="0"/>
          </a:p>
        </p:txBody>
      </p:sp>
      <p:sp>
        <p:nvSpPr>
          <p:cNvPr id="16" name="::before"/>
          <p:cNvSpPr/>
          <p:nvPr/>
        </p:nvSpPr>
        <p:spPr>
          <a:xfrm>
            <a:off x="9144000" y="3956344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7" name="-426"/>
          <p:cNvSpPr txBox="1"/>
          <p:nvPr/>
        </p:nvSpPr>
        <p:spPr>
          <a:xfrm>
            <a:off x="9382125" y="4487466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Common pattern: early pooling/stride for efficiency, later upsampling or dilated conv to recover spatial info</a:t>
            </a:r>
            <a:endParaRPr lang="en-US" sz="1800" dirty="0"/>
          </a:p>
        </p:txBody>
      </p:sp>
      <p:sp>
        <p:nvSpPr>
          <p:cNvPr id="18" name="::before"/>
          <p:cNvSpPr/>
          <p:nvPr/>
        </p:nvSpPr>
        <p:spPr>
          <a:xfrm>
            <a:off x="9144000" y="4632817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9" name="-483"/>
          <p:cNvSpPr txBox="1"/>
          <p:nvPr/>
        </p:nvSpPr>
        <p:spPr>
          <a:xfrm>
            <a:off x="9382125" y="5163939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Summary: </a:t>
            </a:r>
            <a:r>
              <a:rPr lang="en-US" sz="1800" b="1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stride</a:t>
            </a: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 controls sampling; </a:t>
            </a:r>
            <a:r>
              <a:rPr lang="en-US" sz="1800" b="1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pooling</a:t>
            </a: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 reduces size and adds invariance — tradeoff between resolution and efficiency</a:t>
            </a:r>
            <a:endParaRPr lang="en-US" sz="1800" dirty="0"/>
          </a:p>
        </p:txBody>
      </p:sp>
      <p:sp>
        <p:nvSpPr>
          <p:cNvPr id="20" name="::before"/>
          <p:cNvSpPr/>
          <p:nvPr/>
        </p:nvSpPr>
        <p:spPr>
          <a:xfrm>
            <a:off x="9144000" y="5309291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2EC031-4F8C-4187-50F5-6AF2608F7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399" y="965200"/>
            <a:ext cx="15263200" cy="835659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17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785FF1-257F-20E7-91DE-5F89B5529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6" y="965200"/>
            <a:ext cx="15917326" cy="835659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7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446955" y="3537"/>
            <a:ext cx="2814980" cy="2649013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05794" y="90504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5154" y="85816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1F3B6D-91C2-42D4-3BD7-30865E647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065" y="965200"/>
            <a:ext cx="15403868" cy="835659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634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61d70f4-fb47-4cc4-a661-b939cb79ed6c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subtitle-464"/>
          <p:cNvSpPr txBox="1"/>
          <p:nvPr/>
        </p:nvSpPr>
        <p:spPr>
          <a:xfrm>
            <a:off x="381000" y="7540129"/>
            <a:ext cx="8034338" cy="24631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730"/>
              </a:lnSpc>
              <a:buNone/>
            </a:pPr>
            <a:r>
              <a:rPr lang="en-US" sz="2700" kern="1200" spc="-3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CNN output dimensions rely on exact mathematical relationships between input size, kernel, padding, and stride. These variables govern information flow and computational efficiency within the network architecture.</a:t>
            </a:r>
            <a:endParaRPr lang="en-US" sz="2700" dirty="0"/>
          </a:p>
        </p:txBody>
      </p:sp>
      <p:sp>
        <p:nvSpPr>
          <p:cNvPr id="4" name="title-406"/>
          <p:cNvSpPr txBox="1"/>
          <p:nvPr/>
        </p:nvSpPr>
        <p:spPr>
          <a:xfrm>
            <a:off x="381000" y="381000"/>
            <a:ext cx="8034338" cy="1853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6910"/>
              </a:lnSpc>
              <a:buNone/>
            </a:pPr>
            <a:r>
              <a:rPr lang="en-US" sz="5400" kern="1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Mastering Spatial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kern="1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Dimension Arithmetic</a:t>
            </a:r>
            <a:endParaRPr lang="en-US" sz="5400" dirty="0"/>
          </a:p>
        </p:txBody>
      </p:sp>
      <p:sp>
        <p:nvSpPr>
          <p:cNvPr id="5" name="node-diagram-MyGi0h-0"/>
          <p:cNvSpPr/>
          <p:nvPr/>
        </p:nvSpPr>
        <p:spPr>
          <a:xfrm>
            <a:off x="9144000" y="381000"/>
            <a:ext cx="4305300" cy="4686300"/>
          </a:xfrm>
          <a:prstGeom prst="roundRect">
            <a:avLst>
              <a:gd name="adj" fmla="val 2212"/>
            </a:avLst>
          </a:prstGeom>
          <a:solidFill>
            <a:srgbClr val="BB7FA7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bodytext-diagram-MyGi0h-0-1"/>
          <p:cNvSpPr txBox="1"/>
          <p:nvPr/>
        </p:nvSpPr>
        <p:spPr>
          <a:xfrm>
            <a:off x="9372600" y="4500464"/>
            <a:ext cx="12906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Input Size (i)</a:t>
            </a:r>
            <a:endParaRPr lang="en-US" sz="1800" dirty="0"/>
          </a:p>
        </p:txBody>
      </p:sp>
      <p:sp>
        <p:nvSpPr>
          <p:cNvPr id="7" name="spanMainText-439"/>
          <p:cNvSpPr txBox="1"/>
          <p:nvPr/>
        </p:nvSpPr>
        <p:spPr>
          <a:xfrm>
            <a:off x="9372600" y="552450"/>
            <a:ext cx="223838" cy="6534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200" kern="1200" spc="-130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1</a:t>
            </a:r>
            <a:endParaRPr lang="en-US" sz="4200" dirty="0"/>
          </a:p>
        </p:txBody>
      </p:sp>
      <p:sp>
        <p:nvSpPr>
          <p:cNvPr id="8" name="node-diagram-MyGi0h-1"/>
          <p:cNvSpPr/>
          <p:nvPr/>
        </p:nvSpPr>
        <p:spPr>
          <a:xfrm>
            <a:off x="13601700" y="381000"/>
            <a:ext cx="4305300" cy="4686300"/>
          </a:xfrm>
          <a:prstGeom prst="roundRect">
            <a:avLst>
              <a:gd name="adj" fmla="val 2212"/>
            </a:avLst>
          </a:prstGeom>
          <a:solidFill>
            <a:srgbClr val="859FCC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9" name="bodytext-diagram-MyGi0h-1-2"/>
          <p:cNvSpPr txBox="1"/>
          <p:nvPr/>
        </p:nvSpPr>
        <p:spPr>
          <a:xfrm>
            <a:off x="13830300" y="4500464"/>
            <a:ext cx="14906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Kernel Size (k)</a:t>
            </a:r>
            <a:endParaRPr lang="en-US" sz="1800" dirty="0"/>
          </a:p>
        </p:txBody>
      </p:sp>
      <p:sp>
        <p:nvSpPr>
          <p:cNvPr id="10" name="spanMainText-435"/>
          <p:cNvSpPr txBox="1"/>
          <p:nvPr/>
        </p:nvSpPr>
        <p:spPr>
          <a:xfrm>
            <a:off x="13830300" y="552450"/>
            <a:ext cx="338138" cy="6534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200" kern="1200" spc="-130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3</a:t>
            </a:r>
            <a:endParaRPr lang="en-US" sz="4200" dirty="0"/>
          </a:p>
        </p:txBody>
      </p:sp>
      <p:sp>
        <p:nvSpPr>
          <p:cNvPr id="11" name="node-diagram-MyGi0h-2"/>
          <p:cNvSpPr/>
          <p:nvPr/>
        </p:nvSpPr>
        <p:spPr>
          <a:xfrm>
            <a:off x="9144000" y="5219700"/>
            <a:ext cx="4305300" cy="4686300"/>
          </a:xfrm>
          <a:prstGeom prst="roundRect">
            <a:avLst>
              <a:gd name="adj" fmla="val 2212"/>
            </a:avLst>
          </a:prstGeom>
          <a:solidFill>
            <a:srgbClr val="BADEDA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bodytext-diagram-MyGi0h-2-3"/>
          <p:cNvSpPr txBox="1"/>
          <p:nvPr/>
        </p:nvSpPr>
        <p:spPr>
          <a:xfrm>
            <a:off x="9372600" y="9339164"/>
            <a:ext cx="12525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Padding (p)</a:t>
            </a:r>
            <a:endParaRPr lang="en-US" sz="1800" dirty="0"/>
          </a:p>
        </p:txBody>
      </p:sp>
      <p:sp>
        <p:nvSpPr>
          <p:cNvPr id="13" name="spanMainText-419"/>
          <p:cNvSpPr txBox="1"/>
          <p:nvPr/>
        </p:nvSpPr>
        <p:spPr>
          <a:xfrm>
            <a:off x="9372600" y="5391150"/>
            <a:ext cx="223838" cy="6534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200" kern="1200" spc="-130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1</a:t>
            </a:r>
            <a:endParaRPr lang="en-US" sz="4200" dirty="0"/>
          </a:p>
        </p:txBody>
      </p:sp>
      <p:sp>
        <p:nvSpPr>
          <p:cNvPr id="14" name="node-diagram-MyGi0h-3"/>
          <p:cNvSpPr/>
          <p:nvPr/>
        </p:nvSpPr>
        <p:spPr>
          <a:xfrm>
            <a:off x="13601700" y="5219700"/>
            <a:ext cx="4305300" cy="4686300"/>
          </a:xfrm>
          <a:prstGeom prst="roundRect">
            <a:avLst>
              <a:gd name="adj" fmla="val 2212"/>
            </a:avLst>
          </a:prstGeom>
          <a:solidFill>
            <a:srgbClr val="FCDEA8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5" name="bodytext-diagram-MyGi0h-3-4"/>
          <p:cNvSpPr txBox="1"/>
          <p:nvPr/>
        </p:nvSpPr>
        <p:spPr>
          <a:xfrm>
            <a:off x="13830300" y="9339164"/>
            <a:ext cx="976312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Stride (s)</a:t>
            </a:r>
            <a:endParaRPr lang="en-US" sz="1800" dirty="0"/>
          </a:p>
        </p:txBody>
      </p:sp>
      <p:sp>
        <p:nvSpPr>
          <p:cNvPr id="16" name="spanMainText-436"/>
          <p:cNvSpPr txBox="1"/>
          <p:nvPr/>
        </p:nvSpPr>
        <p:spPr>
          <a:xfrm>
            <a:off x="13830300" y="5391150"/>
            <a:ext cx="338138" cy="6534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200" kern="1200" spc="-130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2</a:t>
            </a:r>
            <a:endParaRPr lang="en-US" sz="4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e208766-fa1b-4b8b-8c91-dd3cd72fdf8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itle-452"/>
          <p:cNvSpPr txBox="1"/>
          <p:nvPr/>
        </p:nvSpPr>
        <p:spPr>
          <a:xfrm>
            <a:off x="381000" y="381000"/>
            <a:ext cx="8034338" cy="15106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540"/>
              </a:lnSpc>
              <a:buNone/>
            </a:pP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Compute Output</a:t>
            </a:r>
            <a:r>
              <a:rPr lang="en-US" sz="4200" dirty="0">
                <a:solidFill>
                  <a:srgbClr val="000000"/>
                </a:solidFill>
              </a:rPr>
              <a:t>
</a:t>
            </a: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Dimensions for Layers</a:t>
            </a:r>
            <a:endParaRPr lang="en-US" sz="4200" dirty="0"/>
          </a:p>
        </p:txBody>
      </p:sp>
      <p:sp>
        <p:nvSpPr>
          <p:cNvPr id="4" name="subtitle-453"/>
          <p:cNvSpPr txBox="1"/>
          <p:nvPr/>
        </p:nvSpPr>
        <p:spPr>
          <a:xfrm>
            <a:off x="381000" y="2074863"/>
            <a:ext cx="8034338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Step-by-step guide to calculate output size for common layer combinations with clear rules and quick examples</a:t>
            </a:r>
            <a:endParaRPr lang="en-US" sz="1800" dirty="0"/>
          </a:p>
        </p:txBody>
      </p:sp>
      <p:sp>
        <p:nvSpPr>
          <p:cNvPr id="5" name="-445"/>
          <p:cNvSpPr txBox="1"/>
          <p:nvPr/>
        </p:nvSpPr>
        <p:spPr>
          <a:xfrm>
            <a:off x="9382125" y="428625"/>
            <a:ext cx="85582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Convolution output: (W - K + 2P) / S + 1 per dimension; round down for noninteger</a:t>
            </a:r>
            <a:endParaRPr lang="en-US" sz="1800" dirty="0"/>
          </a:p>
        </p:txBody>
      </p:sp>
      <p:sp>
        <p:nvSpPr>
          <p:cNvPr id="6" name="::before"/>
          <p:cNvSpPr/>
          <p:nvPr/>
        </p:nvSpPr>
        <p:spPr>
          <a:xfrm>
            <a:off x="9144000" y="573977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7" name="-441"/>
          <p:cNvSpPr txBox="1"/>
          <p:nvPr/>
        </p:nvSpPr>
        <p:spPr>
          <a:xfrm>
            <a:off x="9382125" y="766862"/>
            <a:ext cx="85582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Same padding: set P so output width equals input width when S is 1</a:t>
            </a:r>
            <a:endParaRPr lang="en-US" sz="1800" dirty="0"/>
          </a:p>
        </p:txBody>
      </p:sp>
      <p:sp>
        <p:nvSpPr>
          <p:cNvPr id="8" name="::before"/>
          <p:cNvSpPr/>
          <p:nvPr/>
        </p:nvSpPr>
        <p:spPr>
          <a:xfrm>
            <a:off x="9144000" y="912213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9" name="-452"/>
          <p:cNvSpPr txBox="1"/>
          <p:nvPr/>
        </p:nvSpPr>
        <p:spPr>
          <a:xfrm>
            <a:off x="9382125" y="1105099"/>
            <a:ext cx="85582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Valid padding: P = 0, output shrinks by kernel size minus 1</a:t>
            </a:r>
            <a:endParaRPr lang="en-US" sz="1800" dirty="0"/>
          </a:p>
        </p:txBody>
      </p:sp>
      <p:sp>
        <p:nvSpPr>
          <p:cNvPr id="10" name="::before"/>
          <p:cNvSpPr/>
          <p:nvPr/>
        </p:nvSpPr>
        <p:spPr>
          <a:xfrm>
            <a:off x="9144000" y="1250450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1" name="-424"/>
          <p:cNvSpPr txBox="1"/>
          <p:nvPr/>
        </p:nvSpPr>
        <p:spPr>
          <a:xfrm>
            <a:off x="9382125" y="1443335"/>
            <a:ext cx="85582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Pooling output: use same formula as convolution with kernel K and stride S</a:t>
            </a:r>
            <a:endParaRPr lang="en-US" sz="1800" dirty="0"/>
          </a:p>
        </p:txBody>
      </p:sp>
      <p:sp>
        <p:nvSpPr>
          <p:cNvPr id="12" name="::before"/>
          <p:cNvSpPr/>
          <p:nvPr/>
        </p:nvSpPr>
        <p:spPr>
          <a:xfrm>
            <a:off x="9144000" y="1588687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3" name="-472"/>
          <p:cNvSpPr txBox="1"/>
          <p:nvPr/>
        </p:nvSpPr>
        <p:spPr>
          <a:xfrm>
            <a:off x="9382125" y="1781572"/>
            <a:ext cx="85582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Stride &gt; 1 reduces spatial size: larger S means fewer outputs</a:t>
            </a:r>
            <a:endParaRPr lang="en-US" sz="1800" dirty="0"/>
          </a:p>
        </p:txBody>
      </p:sp>
      <p:sp>
        <p:nvSpPr>
          <p:cNvPr id="14" name="::before"/>
          <p:cNvSpPr/>
          <p:nvPr/>
        </p:nvSpPr>
        <p:spPr>
          <a:xfrm>
            <a:off x="9144000" y="1926924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5" name="-463"/>
          <p:cNvSpPr txBox="1"/>
          <p:nvPr/>
        </p:nvSpPr>
        <p:spPr>
          <a:xfrm>
            <a:off x="9382125" y="2119809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Transpose convolution: inverse of conv—use output formula solving for output size</a:t>
            </a:r>
            <a:endParaRPr lang="en-US" sz="1800" dirty="0"/>
          </a:p>
        </p:txBody>
      </p:sp>
      <p:sp>
        <p:nvSpPr>
          <p:cNvPr id="16" name="::before"/>
          <p:cNvSpPr/>
          <p:nvPr/>
        </p:nvSpPr>
        <p:spPr>
          <a:xfrm>
            <a:off x="9144000" y="2265160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7" name="-434"/>
          <p:cNvSpPr txBox="1"/>
          <p:nvPr/>
        </p:nvSpPr>
        <p:spPr>
          <a:xfrm>
            <a:off x="9382125" y="2796282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Fully connected: output units equal specified neuron count, flatten spatial dims first</a:t>
            </a:r>
            <a:endParaRPr lang="en-US" sz="1800" dirty="0"/>
          </a:p>
        </p:txBody>
      </p:sp>
      <p:sp>
        <p:nvSpPr>
          <p:cNvPr id="18" name="::before"/>
          <p:cNvSpPr/>
          <p:nvPr/>
        </p:nvSpPr>
        <p:spPr>
          <a:xfrm>
            <a:off x="9144000" y="2941634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9" name="-453"/>
          <p:cNvSpPr txBox="1"/>
          <p:nvPr/>
        </p:nvSpPr>
        <p:spPr>
          <a:xfrm>
            <a:off x="9382125" y="3472756"/>
            <a:ext cx="85582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Example check: Input 32x32 conv K=5 S=1 P=0 → </a:t>
            </a:r>
            <a:r>
              <a:rPr lang="en-US" sz="1800" b="1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28x28</a:t>
            </a: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 output</a:t>
            </a:r>
            <a:endParaRPr lang="en-US" sz="1800" dirty="0"/>
          </a:p>
        </p:txBody>
      </p:sp>
      <p:sp>
        <p:nvSpPr>
          <p:cNvPr id="20" name="::before"/>
          <p:cNvSpPr/>
          <p:nvPr/>
        </p:nvSpPr>
        <p:spPr>
          <a:xfrm>
            <a:off x="9144000" y="3618107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1" name="-431"/>
          <p:cNvSpPr txBox="1"/>
          <p:nvPr/>
        </p:nvSpPr>
        <p:spPr>
          <a:xfrm>
            <a:off x="9382125" y="3810993"/>
            <a:ext cx="8558213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0D131D"/>
                </a:solidFill>
                <a:latin typeface="Plus Jakarta Sans Medium" panose="00000600000000000000" pitchFamily="2" charset="0"/>
              </a:rPr>
              <a:t>Validation tip: always compute per-dimension and confirm channel counts after layers</a:t>
            </a:r>
            <a:endParaRPr lang="en-US" sz="1800" dirty="0"/>
          </a:p>
        </p:txBody>
      </p:sp>
      <p:sp>
        <p:nvSpPr>
          <p:cNvPr id="22" name="::before"/>
          <p:cNvSpPr/>
          <p:nvPr/>
        </p:nvSpPr>
        <p:spPr>
          <a:xfrm>
            <a:off x="9144000" y="3956344"/>
            <a:ext cx="47625" cy="47625"/>
          </a:xfrm>
          <a:prstGeom prst="roundRect">
            <a:avLst>
              <a:gd name="adj" fmla="val 199980000"/>
            </a:avLst>
          </a:prstGeom>
          <a:solidFill>
            <a:srgbClr val="8A8D93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24FCFA2-15A5-1DFD-F554-E9FE567E6F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21"/>
          <a:stretch>
            <a:fillRect/>
          </a:stretch>
        </p:blipFill>
        <p:spPr>
          <a:xfrm>
            <a:off x="234502" y="1926925"/>
            <a:ext cx="8718998" cy="47895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500EBA7-4CB5-CDBE-D5A3-941C7D6E7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200" y="5832316"/>
            <a:ext cx="7460051" cy="40260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dc90ec5-4d45-4d1b-8b63-94895e2511ba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subtitle-465"/>
          <p:cNvSpPr txBox="1"/>
          <p:nvPr/>
        </p:nvSpPr>
        <p:spPr>
          <a:xfrm>
            <a:off x="381000" y="9567764"/>
            <a:ext cx="8034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Increase spatial reach while keeping kernel parameters stable</a:t>
            </a:r>
            <a:endParaRPr lang="en-US" sz="1800" dirty="0"/>
          </a:p>
        </p:txBody>
      </p:sp>
      <p:sp>
        <p:nvSpPr>
          <p:cNvPr id="4" name="title-464"/>
          <p:cNvSpPr txBox="1"/>
          <p:nvPr/>
        </p:nvSpPr>
        <p:spPr>
          <a:xfrm>
            <a:off x="381000" y="381000"/>
            <a:ext cx="8034338" cy="18535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6910"/>
              </a:lnSpc>
              <a:buNone/>
            </a:pPr>
            <a:r>
              <a:rPr lang="en-US" sz="5400" kern="1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Expand the Receptive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kern="1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Field with Dilation</a:t>
            </a:r>
            <a:endParaRPr lang="en-US" sz="5400" dirty="0"/>
          </a:p>
        </p:txBody>
      </p:sp>
      <p:pic>
        <p:nvPicPr>
          <p:cNvPr id="5" name="img-image-diagram-Q0Cm6W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81000"/>
            <a:ext cx="8763000" cy="952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01791D-2E4F-00F7-2D69-FD42DED9B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55" y="4627251"/>
            <a:ext cx="5950256" cy="44896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5B687-C834-70DD-F755-5FCE732D5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311" y="2155651"/>
            <a:ext cx="7524997" cy="49431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f60d1ff-ddb9-4632-b187-a43f58252d54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itle-490"/>
          <p:cNvSpPr txBox="1"/>
          <p:nvPr/>
        </p:nvSpPr>
        <p:spPr>
          <a:xfrm>
            <a:off x="381000" y="381000"/>
            <a:ext cx="3119438" cy="9772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6910"/>
              </a:lnSpc>
              <a:buNone/>
            </a:pPr>
            <a:r>
              <a:rPr lang="en-US" sz="5400" kern="1200" spc="-18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RF vs. ERF</a:t>
            </a:r>
            <a:endParaRPr lang="en-US" sz="5400" dirty="0"/>
          </a:p>
        </p:txBody>
      </p:sp>
      <p:sp>
        <p:nvSpPr>
          <p:cNvPr id="4" name="subtitle-406"/>
          <p:cNvSpPr txBox="1"/>
          <p:nvPr/>
        </p:nvSpPr>
        <p:spPr>
          <a:xfrm>
            <a:off x="11140480" y="381000"/>
            <a:ext cx="6796088" cy="777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Distinguishing between the theoretical reach of a neural connection and its true effective impact on the final output.</a:t>
            </a:r>
            <a:endParaRPr lang="en-US" sz="1800" dirty="0"/>
          </a:p>
        </p:txBody>
      </p:sp>
      <p:sp>
        <p:nvSpPr>
          <p:cNvPr id="5" name="node-diagram-mHQeqY-0"/>
          <p:cNvSpPr/>
          <p:nvPr/>
        </p:nvSpPr>
        <p:spPr>
          <a:xfrm>
            <a:off x="381099" y="1924050"/>
            <a:ext cx="5686425" cy="7981950"/>
          </a:xfrm>
          <a:prstGeom prst="roundRect">
            <a:avLst>
              <a:gd name="adj" fmla="val 1675"/>
            </a:avLst>
          </a:prstGeom>
          <a:solidFill>
            <a:srgbClr val="BB7FA7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headingtext-diagram-mHQeqY-0-1"/>
          <p:cNvSpPr txBox="1"/>
          <p:nvPr/>
        </p:nvSpPr>
        <p:spPr>
          <a:xfrm>
            <a:off x="762099" y="2305050"/>
            <a:ext cx="4957763" cy="7200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600" kern="1200" spc="-122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Gaussian Influence</a:t>
            </a:r>
            <a:endParaRPr lang="en-US" sz="3600" dirty="0"/>
          </a:p>
        </p:txBody>
      </p:sp>
      <p:sp>
        <p:nvSpPr>
          <p:cNvPr id="7" name="subheadingtext-diagram-mHQeqY-0-1"/>
          <p:cNvSpPr txBox="1"/>
          <p:nvPr/>
        </p:nvSpPr>
        <p:spPr>
          <a:xfrm>
            <a:off x="762099" y="3041055"/>
            <a:ext cx="4957763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A concise subheading that supports the main message.</a:t>
            </a:r>
            <a:endParaRPr lang="en-US" sz="2100" dirty="0"/>
          </a:p>
        </p:txBody>
      </p:sp>
      <p:sp>
        <p:nvSpPr>
          <p:cNvPr id="8" name="-453"/>
          <p:cNvSpPr txBox="1"/>
          <p:nvPr/>
        </p:nvSpPr>
        <p:spPr>
          <a:xfrm>
            <a:off x="1223109" y="8190012"/>
            <a:ext cx="4496753" cy="13582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50" kern="1200" spc="-20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The Effective Receptive Field follows a Gaussian distribution, ensuring that central input pixels exert significantly greater influence than those at the outer periphery.</a:t>
            </a:r>
            <a:endParaRPr lang="en-US" sz="1650" dirty="0"/>
          </a:p>
        </p:txBody>
      </p:sp>
      <p:pic>
        <p:nvPicPr>
          <p:cNvPr id="9" name="::befo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99" y="8231882"/>
            <a:ext cx="228600" cy="228600"/>
          </a:xfrm>
          <a:prstGeom prst="rect">
            <a:avLst/>
          </a:prstGeom>
        </p:spPr>
      </p:pic>
      <p:pic>
        <p:nvPicPr>
          <p:cNvPr id="10" name="::befo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99" y="8231882"/>
            <a:ext cx="228600" cy="228600"/>
          </a:xfrm>
          <a:prstGeom prst="rect">
            <a:avLst/>
          </a:prstGeom>
        </p:spPr>
      </p:pic>
      <p:sp>
        <p:nvSpPr>
          <p:cNvPr id="11" name="node-diagram-mHQeqY-1"/>
          <p:cNvSpPr/>
          <p:nvPr/>
        </p:nvSpPr>
        <p:spPr>
          <a:xfrm>
            <a:off x="6299200" y="1924050"/>
            <a:ext cx="5686425" cy="7981950"/>
          </a:xfrm>
          <a:prstGeom prst="roundRect">
            <a:avLst>
              <a:gd name="adj" fmla="val 1675"/>
            </a:avLst>
          </a:prstGeom>
          <a:solidFill>
            <a:srgbClr val="BB7FA7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headingtext-diagram-mHQeqY-1-2"/>
          <p:cNvSpPr txBox="1"/>
          <p:nvPr/>
        </p:nvSpPr>
        <p:spPr>
          <a:xfrm>
            <a:off x="6680200" y="2305050"/>
            <a:ext cx="4957763" cy="7200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600" kern="1200" spc="-122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O(sqrt(n)) Scaling</a:t>
            </a:r>
            <a:endParaRPr lang="en-US" sz="3600" dirty="0"/>
          </a:p>
        </p:txBody>
      </p:sp>
      <p:sp>
        <p:nvSpPr>
          <p:cNvPr id="13" name="subheadingtext-diagram-mHQeqY-1-2"/>
          <p:cNvSpPr txBox="1"/>
          <p:nvPr/>
        </p:nvSpPr>
        <p:spPr>
          <a:xfrm>
            <a:off x="6680200" y="3041055"/>
            <a:ext cx="4957763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A concise subheading that supports the main message.</a:t>
            </a:r>
            <a:endParaRPr lang="en-US" sz="2100" dirty="0"/>
          </a:p>
        </p:txBody>
      </p:sp>
      <p:sp>
        <p:nvSpPr>
          <p:cNvPr id="14" name="-410"/>
          <p:cNvSpPr txBox="1"/>
          <p:nvPr/>
        </p:nvSpPr>
        <p:spPr>
          <a:xfrm>
            <a:off x="7141210" y="8190012"/>
            <a:ext cx="4496753" cy="13582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50" kern="1200" spc="-20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While theoretical receptive fields expand linearly at O(n) with deeper layers, the effective field scales more conservatively at a rate of O(sqrt(n)) as network depth increases.</a:t>
            </a:r>
            <a:endParaRPr lang="en-US" sz="1650" dirty="0"/>
          </a:p>
        </p:txBody>
      </p:sp>
      <p:pic>
        <p:nvPicPr>
          <p:cNvPr id="15" name="::befo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8231882"/>
            <a:ext cx="228600" cy="228600"/>
          </a:xfrm>
          <a:prstGeom prst="rect">
            <a:avLst/>
          </a:prstGeom>
        </p:spPr>
      </p:pic>
      <p:pic>
        <p:nvPicPr>
          <p:cNvPr id="16" name="::befo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8231882"/>
            <a:ext cx="228600" cy="228600"/>
          </a:xfrm>
          <a:prstGeom prst="rect">
            <a:avLst/>
          </a:prstGeom>
        </p:spPr>
      </p:pic>
      <p:sp>
        <p:nvSpPr>
          <p:cNvPr id="17" name="node-diagram-mHQeqY-2"/>
          <p:cNvSpPr/>
          <p:nvPr/>
        </p:nvSpPr>
        <p:spPr>
          <a:xfrm>
            <a:off x="12217301" y="1924050"/>
            <a:ext cx="5686425" cy="7981950"/>
          </a:xfrm>
          <a:prstGeom prst="roundRect">
            <a:avLst>
              <a:gd name="adj" fmla="val 1675"/>
            </a:avLst>
          </a:prstGeom>
          <a:solidFill>
            <a:srgbClr val="BB7FA7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8" name="headingtext-diagram-mHQeqY-2-3"/>
          <p:cNvSpPr txBox="1"/>
          <p:nvPr/>
        </p:nvSpPr>
        <p:spPr>
          <a:xfrm>
            <a:off x="12598301" y="2305050"/>
            <a:ext cx="4957763" cy="7200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600" kern="1200" spc="-122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Structural Effects</a:t>
            </a:r>
            <a:endParaRPr lang="en-US" sz="3600" dirty="0"/>
          </a:p>
        </p:txBody>
      </p:sp>
      <p:sp>
        <p:nvSpPr>
          <p:cNvPr id="19" name="subheadingtext-diagram-mHQeqY-2-3"/>
          <p:cNvSpPr txBox="1"/>
          <p:nvPr/>
        </p:nvSpPr>
        <p:spPr>
          <a:xfrm>
            <a:off x="12598301" y="3041055"/>
            <a:ext cx="4957763" cy="872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A concise subheading that supports the main message.</a:t>
            </a:r>
            <a:endParaRPr lang="en-US" sz="2100" dirty="0"/>
          </a:p>
        </p:txBody>
      </p:sp>
      <p:sp>
        <p:nvSpPr>
          <p:cNvPr id="20" name="-417"/>
          <p:cNvSpPr txBox="1"/>
          <p:nvPr/>
        </p:nvSpPr>
        <p:spPr>
          <a:xfrm>
            <a:off x="13059311" y="8190012"/>
            <a:ext cx="4496753" cy="13582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50" kern="1200" spc="-20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Dilated convolutions and subsampling actively expand the effective field, whereas skip-connections, as seen in ResNets, can shrink it by narrowing the neuron's focus.</a:t>
            </a:r>
            <a:endParaRPr lang="en-US" sz="1650" dirty="0"/>
          </a:p>
        </p:txBody>
      </p:sp>
      <p:pic>
        <p:nvPicPr>
          <p:cNvPr id="21" name="::befo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301" y="8231882"/>
            <a:ext cx="228600" cy="228600"/>
          </a:xfrm>
          <a:prstGeom prst="rect">
            <a:avLst/>
          </a:prstGeom>
        </p:spPr>
      </p:pic>
      <p:pic>
        <p:nvPicPr>
          <p:cNvPr id="22" name="::befo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301" y="8231882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75" y="12450"/>
            <a:ext cx="18289675" cy="1027455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716465" cy="10287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42FDD5-3C86-F6C2-4D67-628612115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36" r="1" b="1"/>
          <a:stretch>
            <a:fillRect/>
          </a:stretch>
        </p:blipFill>
        <p:spPr>
          <a:xfrm>
            <a:off x="20" y="10"/>
            <a:ext cx="18287980" cy="102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83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e01e8ab-0ce9-4723-93df-f1c6f209a6b4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itle-496"/>
          <p:cNvSpPr txBox="1"/>
          <p:nvPr/>
        </p:nvSpPr>
        <p:spPr>
          <a:xfrm>
            <a:off x="3400425" y="381000"/>
            <a:ext cx="11520488" cy="8058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5540"/>
              </a:lnSpc>
              <a:buNone/>
            </a:pPr>
            <a:r>
              <a:rPr lang="en-US" sz="4200" kern="1200" spc="-143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Milestones in Deep Learning Evolution</a:t>
            </a:r>
            <a:endParaRPr lang="en-US" sz="4200" dirty="0"/>
          </a:p>
        </p:txBody>
      </p:sp>
      <p:sp>
        <p:nvSpPr>
          <p:cNvPr id="4" name="subtitle-440"/>
          <p:cNvSpPr txBox="1"/>
          <p:nvPr/>
        </p:nvSpPr>
        <p:spPr>
          <a:xfrm>
            <a:off x="3400425" y="1256506"/>
            <a:ext cx="11520488" cy="1120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60"/>
              </a:lnSpc>
              <a:buNone/>
            </a:pPr>
            <a:r>
              <a:rPr lang="en-US" sz="1800" kern="1200" spc="-2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The trajectory of modern computer vision, from the commercial application of LeNet-5 to the breakthrough of AlexNet and the precision of Dilated Convolutions, demonstrates a shift toward automated gradient-based learning.</a:t>
            </a:r>
            <a:endParaRPr lang="en-US" sz="1800" dirty="0"/>
          </a:p>
        </p:txBody>
      </p:sp>
      <p:sp>
        <p:nvSpPr>
          <p:cNvPr id="5" name="node-diagram-DWhTC8-0"/>
          <p:cNvSpPr/>
          <p:nvPr/>
        </p:nvSpPr>
        <p:spPr>
          <a:xfrm>
            <a:off x="381099" y="2876550"/>
            <a:ext cx="5686425" cy="7029450"/>
          </a:xfrm>
          <a:prstGeom prst="roundRect">
            <a:avLst>
              <a:gd name="adj" fmla="val 1675"/>
            </a:avLst>
          </a:prstGeom>
          <a:solidFill>
            <a:srgbClr val="BB7FA7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headingtext-diagram-DWhTC8-0-1"/>
          <p:cNvSpPr txBox="1"/>
          <p:nvPr/>
        </p:nvSpPr>
        <p:spPr>
          <a:xfrm>
            <a:off x="762099" y="3257550"/>
            <a:ext cx="495776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LeNet-5</a:t>
            </a:r>
            <a:endParaRPr lang="en-US" sz="2100" dirty="0"/>
          </a:p>
        </p:txBody>
      </p:sp>
      <p:sp>
        <p:nvSpPr>
          <p:cNvPr id="7" name="shape-diagram-DWhTC8-0"/>
          <p:cNvSpPr/>
          <p:nvPr/>
        </p:nvSpPr>
        <p:spPr>
          <a:xfrm>
            <a:off x="762099" y="3745210"/>
            <a:ext cx="4924425" cy="9525"/>
          </a:xfrm>
          <a:prstGeom prst="roundRect">
            <a:avLst>
              <a:gd name="adj" fmla="val 1000000"/>
            </a:avLst>
          </a:prstGeom>
          <a:solidFill>
            <a:srgbClr val="0D131D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8" name="bodytext-diagram-DWhTC8-0-1"/>
          <p:cNvSpPr txBox="1"/>
          <p:nvPr/>
        </p:nvSpPr>
        <p:spPr>
          <a:xfrm>
            <a:off x="762099" y="7984828"/>
            <a:ext cx="4957763" cy="1634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Achieved the first major commercial success by utilising backpropagation to automate digit recognition for bank cheques.</a:t>
            </a:r>
            <a:endParaRPr lang="en-US" sz="2100" dirty="0"/>
          </a:p>
        </p:txBody>
      </p:sp>
      <p:sp>
        <p:nvSpPr>
          <p:cNvPr id="9" name="node-diagram-DWhTC8-1"/>
          <p:cNvSpPr/>
          <p:nvPr/>
        </p:nvSpPr>
        <p:spPr>
          <a:xfrm>
            <a:off x="6299200" y="2876550"/>
            <a:ext cx="5686425" cy="7029450"/>
          </a:xfrm>
          <a:prstGeom prst="roundRect">
            <a:avLst>
              <a:gd name="adj" fmla="val 1675"/>
            </a:avLst>
          </a:prstGeom>
          <a:solidFill>
            <a:srgbClr val="859FCC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0" name="headingtext-diagram-DWhTC8-1-2"/>
          <p:cNvSpPr txBox="1"/>
          <p:nvPr/>
        </p:nvSpPr>
        <p:spPr>
          <a:xfrm>
            <a:off x="6680200" y="3257550"/>
            <a:ext cx="495776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AlexNet</a:t>
            </a:r>
            <a:endParaRPr lang="en-US" sz="2100" dirty="0"/>
          </a:p>
        </p:txBody>
      </p:sp>
      <p:sp>
        <p:nvSpPr>
          <p:cNvPr id="11" name="shape-diagram-DWhTC8-1"/>
          <p:cNvSpPr/>
          <p:nvPr/>
        </p:nvSpPr>
        <p:spPr>
          <a:xfrm>
            <a:off x="6680200" y="3745210"/>
            <a:ext cx="4924425" cy="9525"/>
          </a:xfrm>
          <a:prstGeom prst="roundRect">
            <a:avLst>
              <a:gd name="adj" fmla="val 1000000"/>
            </a:avLst>
          </a:prstGeom>
          <a:solidFill>
            <a:srgbClr val="0D131D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bodytext-diagram-DWhTC8-1-2"/>
          <p:cNvSpPr txBox="1"/>
          <p:nvPr/>
        </p:nvSpPr>
        <p:spPr>
          <a:xfrm>
            <a:off x="6680200" y="7984828"/>
            <a:ext cx="4957763" cy="1634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Triggered a deep learning 'Big Bang' by using 60 million parameters and two GPUs to dominate the ImageNet competition.</a:t>
            </a:r>
            <a:endParaRPr lang="en-US" sz="2100" dirty="0"/>
          </a:p>
        </p:txBody>
      </p:sp>
      <p:sp>
        <p:nvSpPr>
          <p:cNvPr id="13" name="node-diagram-DWhTC8-2"/>
          <p:cNvSpPr/>
          <p:nvPr/>
        </p:nvSpPr>
        <p:spPr>
          <a:xfrm>
            <a:off x="12217301" y="2876550"/>
            <a:ext cx="5686425" cy="7029450"/>
          </a:xfrm>
          <a:prstGeom prst="roundRect">
            <a:avLst>
              <a:gd name="adj" fmla="val 1675"/>
            </a:avLst>
          </a:prstGeom>
          <a:solidFill>
            <a:srgbClr val="BADEDA">
              <a:alpha val="20000"/>
            </a:srgbClr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4" name="headingtext-diagram-DWhTC8-2-3"/>
          <p:cNvSpPr txBox="1"/>
          <p:nvPr/>
        </p:nvSpPr>
        <p:spPr>
          <a:xfrm>
            <a:off x="12598301" y="3257550"/>
            <a:ext cx="4957763" cy="472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kern="1200" spc="-71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Dilated Convolutions</a:t>
            </a:r>
            <a:endParaRPr lang="en-US" sz="2100" dirty="0"/>
          </a:p>
        </p:txBody>
      </p:sp>
      <p:sp>
        <p:nvSpPr>
          <p:cNvPr id="15" name="shape-diagram-DWhTC8-2"/>
          <p:cNvSpPr/>
          <p:nvPr/>
        </p:nvSpPr>
        <p:spPr>
          <a:xfrm>
            <a:off x="12598301" y="3745210"/>
            <a:ext cx="4924425" cy="9525"/>
          </a:xfrm>
          <a:prstGeom prst="roundRect">
            <a:avLst>
              <a:gd name="adj" fmla="val 1000000"/>
            </a:avLst>
          </a:prstGeom>
          <a:solidFill>
            <a:srgbClr val="0D131D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6" name="bodytext-diagram-DWhTC8-2-3"/>
          <p:cNvSpPr txBox="1"/>
          <p:nvPr/>
        </p:nvSpPr>
        <p:spPr>
          <a:xfrm>
            <a:off x="12598301" y="7984828"/>
            <a:ext cx="4957763" cy="1634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00" kern="1200" spc="-25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Revolutionised semantic segmentation by aggregating multi-scale context without sacrificing critical spatial resolution.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553cd7d-8d3d-4458-beff-baf64732378a-AI"/>
          <p:cNvSpPr/>
          <p:nvPr/>
        </p:nvSpPr>
        <p:spPr>
          <a:xfrm>
            <a:off x="0" y="1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itle-447"/>
          <p:cNvSpPr txBox="1"/>
          <p:nvPr/>
        </p:nvSpPr>
        <p:spPr>
          <a:xfrm>
            <a:off x="846117" y="1265118"/>
            <a:ext cx="10167938" cy="2177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8180"/>
              </a:lnSpc>
              <a:buNone/>
            </a:pPr>
            <a:r>
              <a:rPr lang="en-US" sz="6600" kern="1200" spc="-22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Next Steps……</a:t>
            </a:r>
            <a:endParaRPr lang="en-US" sz="6600" dirty="0"/>
          </a:p>
        </p:txBody>
      </p:sp>
      <p:sp>
        <p:nvSpPr>
          <p:cNvPr id="4" name="subtitle-479"/>
          <p:cNvSpPr txBox="1"/>
          <p:nvPr/>
        </p:nvSpPr>
        <p:spPr>
          <a:xfrm>
            <a:off x="846117" y="2962640"/>
            <a:ext cx="12578938" cy="4708819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625475" indent="-625475" algn="l">
              <a:lnSpc>
                <a:spcPts val="3730"/>
              </a:lnSpc>
              <a:buNone/>
            </a:pPr>
            <a:r>
              <a:rPr lang="en-US" sz="2700" kern="1200" spc="-3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…….study notes</a:t>
            </a:r>
          </a:p>
          <a:p>
            <a:pPr marL="625475" indent="-625475" algn="l">
              <a:lnSpc>
                <a:spcPts val="3730"/>
              </a:lnSpc>
              <a:buNone/>
            </a:pPr>
            <a:r>
              <a:rPr lang="en-US" sz="2700" spc="-3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…….follow the Walkthrough notebook</a:t>
            </a:r>
          </a:p>
          <a:p>
            <a:pPr marL="625475" indent="-625475" algn="l">
              <a:lnSpc>
                <a:spcPts val="3730"/>
              </a:lnSpc>
              <a:buNone/>
            </a:pPr>
            <a:r>
              <a:rPr lang="en-US" sz="2700" spc="-3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…….visualize the impact of </a:t>
            </a:r>
            <a:r>
              <a:rPr lang="en-US" sz="2700" b="1" i="1" spc="-3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kernel size/type, padding, stride and dilation</a:t>
            </a:r>
            <a:r>
              <a:rPr lang="en-US" sz="2700" spc="-3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 using the simulator</a:t>
            </a:r>
          </a:p>
          <a:p>
            <a:pPr marL="625475" indent="-625475" algn="l">
              <a:lnSpc>
                <a:spcPts val="3730"/>
              </a:lnSpc>
              <a:buNone/>
            </a:pPr>
            <a:r>
              <a:rPr lang="en-US" sz="2700" spc="-3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…….take the quiz (cross check answer and refer to feedback)</a:t>
            </a:r>
          </a:p>
          <a:p>
            <a:pPr marL="625475" indent="-625475" algn="l">
              <a:lnSpc>
                <a:spcPts val="3730"/>
              </a:lnSpc>
              <a:buNone/>
            </a:pPr>
            <a:r>
              <a:rPr lang="en-US" sz="2700" spc="-32" dirty="0">
                <a:solidFill>
                  <a:srgbClr val="555B66"/>
                </a:solidFill>
                <a:latin typeface="Plus Jakarta Sans Medium" panose="00000600000000000000" pitchFamily="2" charset="0"/>
              </a:rPr>
              <a:t>…….further reading available as required (refer to study notes / folder in repository</a:t>
            </a:r>
            <a:endParaRPr lang="en-US" sz="2700" dirty="0"/>
          </a:p>
        </p:txBody>
      </p:sp>
      <p:sp>
        <p:nvSpPr>
          <p:cNvPr id="5" name="title-447">
            <a:extLst>
              <a:ext uri="{FF2B5EF4-FFF2-40B4-BE49-F238E27FC236}">
                <a16:creationId xmlns:a16="http://schemas.microsoft.com/office/drawing/2014/main" id="{1A158C15-F0C7-5239-4C49-EF5018665AD6}"/>
              </a:ext>
            </a:extLst>
          </p:cNvPr>
          <p:cNvSpPr txBox="1"/>
          <p:nvPr/>
        </p:nvSpPr>
        <p:spPr>
          <a:xfrm>
            <a:off x="522513" y="8624415"/>
            <a:ext cx="17611107" cy="1662586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8180"/>
              </a:lnSpc>
              <a:buNone/>
            </a:pPr>
            <a:r>
              <a:rPr lang="en-US" sz="6600" kern="1200" spc="-22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CNN Foundations ……</a:t>
            </a:r>
            <a:r>
              <a:rPr lang="en-US" sz="4800" kern="1200" spc="-22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on to the next topic </a:t>
            </a:r>
            <a:r>
              <a:rPr lang="en-US" sz="6600" kern="1200" spc="-224" dirty="0">
                <a:solidFill>
                  <a:srgbClr val="0D131D"/>
                </a:solidFill>
                <a:latin typeface="Plus Jakarta Sans SemiBold" panose="00000700000000000000" pitchFamily="2" charset="0"/>
              </a:rPr>
              <a:t>…… </a:t>
            </a:r>
            <a:r>
              <a:rPr lang="en-US" sz="6600" kern="1200" spc="-224" dirty="0">
                <a:solidFill>
                  <a:srgbClr val="0D131D"/>
                </a:solidFill>
                <a:highlight>
                  <a:srgbClr val="FFFF00"/>
                </a:highlight>
                <a:latin typeface="Plus Jakarta Sans SemiBold" panose="00000700000000000000" pitchFamily="2" charset="0"/>
              </a:rPr>
              <a:t>Pooling</a:t>
            </a:r>
            <a:endParaRPr lang="en-US" sz="6600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F86B6D-7F2D-3F02-529F-4C64EB44C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9855" y="350718"/>
            <a:ext cx="3483765" cy="539573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4EC248A-A7EF-4746-1649-1F18757813FB}"/>
              </a:ext>
            </a:extLst>
          </p:cNvPr>
          <p:cNvSpPr/>
          <p:nvPr/>
        </p:nvSpPr>
        <p:spPr>
          <a:xfrm>
            <a:off x="14307268" y="5311948"/>
            <a:ext cx="3483765" cy="46321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041564-356C-307E-19BE-536AE85581DC}"/>
              </a:ext>
            </a:extLst>
          </p:cNvPr>
          <p:cNvSpPr/>
          <p:nvPr/>
        </p:nvSpPr>
        <p:spPr>
          <a:xfrm>
            <a:off x="14339350" y="4826678"/>
            <a:ext cx="3483765" cy="46321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B92AE9-4788-E9FD-7036-A09367AC71D7}"/>
              </a:ext>
            </a:extLst>
          </p:cNvPr>
          <p:cNvSpPr/>
          <p:nvPr/>
        </p:nvSpPr>
        <p:spPr>
          <a:xfrm>
            <a:off x="14347368" y="3824042"/>
            <a:ext cx="3483765" cy="46321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C22B5F-9967-FD21-ADFC-C2116B4BC65B}"/>
              </a:ext>
            </a:extLst>
          </p:cNvPr>
          <p:cNvSpPr/>
          <p:nvPr/>
        </p:nvSpPr>
        <p:spPr>
          <a:xfrm>
            <a:off x="14367416" y="1425742"/>
            <a:ext cx="3483765" cy="46321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1233</Words>
  <Application>Microsoft Office PowerPoint</Application>
  <PresentationFormat>Custom</PresentationFormat>
  <Paragraphs>132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Plus Jakarta Sans SemiBold</vt:lpstr>
      <vt:lpstr>Plus Jakarta Sans Medium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 CRAFT TECHNOLOGIES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Version:1.0.4</dc:title>
  <dc:subject> </dc:subject>
  <dc:creator>Presentations.AI</dc:creator>
  <cp:lastModifiedBy>Michael Mizzi</cp:lastModifiedBy>
  <cp:revision>10</cp:revision>
  <dcterms:created xsi:type="dcterms:W3CDTF">2026-05-18T18:01:55Z</dcterms:created>
  <dcterms:modified xsi:type="dcterms:W3CDTF">2026-05-20T09:13:41Z</dcterms:modified>
</cp:coreProperties>
</file>